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888AA"/>
                </a:solidFill>
                <a:latin typeface="Calibri"/>
              </a:rPr>
              <a:t>OPENCLAW COURSE  ·  LOCAL INSTALL  · 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Trebuchet MS"/>
              </a:rPr>
              <a:t>Why Stronger Models Are </a:t>
            </a:r>
            <a:r>
              <a:rPr sz="3800" b="1">
                <a:solidFill>
                  <a:srgbClr val="E87A2C"/>
                </a:solidFill>
                <a:latin typeface="Trebuchet MS"/>
              </a:rPr>
              <a:t>Actually Safer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BBBBCC"/>
                </a:solidFill>
                <a:latin typeface="Calibri"/>
              </a:rPr>
              <a:t>Counterintuitive but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727" y="1691640"/>
            <a:ext cx="5349240" cy="2551176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3727" y="1691640"/>
            <a:ext cx="534924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8047" y="1874520"/>
            <a:ext cx="502920" cy="502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>
                <a:solidFill>
                  <a:srgbClr val="E84C4C"/>
                </a:solidFill>
              </a:rP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8127" y="1892808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84C4C"/>
                </a:solidFill>
                <a:latin typeface="Trebuchet MS"/>
              </a:rPr>
              <a:t>Weak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047" y="2468880"/>
            <a:ext cx="480060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047" y="265176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More likely to fall for prompt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047" y="309067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Can't always recognize suspicious 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047" y="352958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Easier to manipulate into unsafe 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8727" y="1691640"/>
            <a:ext cx="5349240" cy="2551176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1691640"/>
            <a:ext cx="5349240" cy="54864"/>
          </a:xfrm>
          <a:prstGeom prst="rect">
            <a:avLst/>
          </a:prstGeom>
          <a:solidFill>
            <a:srgbClr val="6BC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53047" y="1874520"/>
            <a:ext cx="502920" cy="502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>
                <a:solidFill>
                  <a:srgbClr val="6BC86B"/>
                </a:solidFill>
              </a:rPr>
              <a:t>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3127" y="1892808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6BC86B"/>
                </a:solidFill>
                <a:latin typeface="Trebuchet MS"/>
              </a:rPr>
              <a:t>Strong Models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047" y="2468880"/>
            <a:ext cx="480060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047" y="265176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Better at spotting manipulation attempts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47" y="309067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Refuse suspicious or harmful requests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352958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More robust against prompt injection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THE TAKEAWAY   </a:t>
            </a:r>
            <a:r>
              <a:rPr sz="1300">
                <a:solidFill>
                  <a:srgbClr val="BBBBCC"/>
                </a:solidFill>
                <a:latin typeface="Calibri"/>
              </a:rPr>
              <a:t>If security matters to you, picking a powerful model like GPT 5.4 or Claude is one of the best defenses you have.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888AA"/>
                </a:solidFill>
                <a:latin typeface="Calibri"/>
              </a:rPr>
              <a:t>OPENCLAW COURSE  ·  LOCAL INSTALL  ·  MODEL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Trebuchet MS"/>
              </a:rPr>
              <a:t>Local AI Models: </a:t>
            </a:r>
            <a:r>
              <a:rPr sz="3800" b="1">
                <a:solidFill>
                  <a:srgbClr val="2ECCB1"/>
                </a:solidFill>
                <a:latin typeface="Trebuchet MS"/>
              </a:rPr>
              <a:t>What Works </a:t>
            </a:r>
            <a:r>
              <a:rPr sz="3800" b="1">
                <a:solidFill>
                  <a:srgbClr val="FFFFFF"/>
                </a:solidFill>
                <a:latin typeface="Trebuchet MS"/>
              </a:rPr>
              <a:t>and What Doesn't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BBBBCC"/>
                </a:solidFill>
                <a:latin typeface="Calibri"/>
              </a:rPr>
              <a:t>An honest look at Ollama and local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727" y="1691640"/>
            <a:ext cx="5349240" cy="2990088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3727" y="1691640"/>
            <a:ext cx="5349240" cy="54864"/>
          </a:xfrm>
          <a:prstGeom prst="rect">
            <a:avLst/>
          </a:prstGeom>
          <a:solidFill>
            <a:srgbClr val="6BC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8047" y="1874520"/>
            <a:ext cx="502920" cy="502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>
                <a:solidFill>
                  <a:srgbClr val="6BC86B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8127" y="1892808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6BC86B"/>
                </a:solidFill>
                <a:latin typeface="Trebuchet MS"/>
              </a:rPr>
              <a:t>Works Well with Local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047" y="2468880"/>
            <a:ext cx="480060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047" y="265176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Basic chat and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047" y="309067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Simple Q&amp;A 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047" y="352958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Code generation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047" y="396849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Learning and experimenting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8727" y="1691640"/>
            <a:ext cx="5349240" cy="2990088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8727" y="1691640"/>
            <a:ext cx="534924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3047" y="1874520"/>
            <a:ext cx="502920" cy="502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>
                <a:solidFill>
                  <a:srgbClr val="E84C4C"/>
                </a:solidFill>
              </a:rPr>
              <a:t>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3127" y="1892808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84C4C"/>
                </a:solidFill>
                <a:latin typeface="Trebuchet MS"/>
              </a:rPr>
              <a:t>Better with Cloud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047" y="2468880"/>
            <a:ext cx="480060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47" y="265176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Browser automation and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309067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Complex agentic workflows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047" y="352958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Chaining multiple tools together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047" y="3968496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Fast, responsive tool calls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THE HONEST ADVICE   </a:t>
            </a:r>
            <a:r>
              <a:rPr sz="1300">
                <a:solidFill>
                  <a:srgbClr val="BBBBCC"/>
                </a:solidFill>
                <a:latin typeface="Calibri"/>
              </a:rPr>
              <a:t>For full OpenClaw power, cloud models win. Start with free options like MiniMax or Gemini Flash if budget is the concern.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888AA"/>
                </a:solidFill>
                <a:latin typeface="Calibri"/>
              </a:rPr>
              <a:t>OPENCLAW COURSE  ·  LOCAL INSTALL  ·  MINDSET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Trebuchet MS"/>
              </a:rPr>
              <a:t>The </a:t>
            </a:r>
            <a:r>
              <a:rPr sz="3800" b="1">
                <a:solidFill>
                  <a:srgbClr val="E87A2C"/>
                </a:solidFill>
                <a:latin typeface="Trebuchet MS"/>
              </a:rPr>
              <a:t>Golden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BBBBCC"/>
                </a:solidFill>
                <a:latin typeface="Calibri"/>
              </a:rPr>
              <a:t>Tell your agent WHAT, not 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727" y="1691640"/>
            <a:ext cx="5349240" cy="310896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3727" y="1691640"/>
            <a:ext cx="534924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8047" y="1874520"/>
            <a:ext cx="502920" cy="502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>
                <a:solidFill>
                  <a:srgbClr val="E84C4C"/>
                </a:solidFill>
              </a:rP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8127" y="1892808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84C4C"/>
                </a:solidFill>
                <a:latin typeface="Trebuchet MS"/>
              </a:rPr>
              <a:t>Don't Do This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047" y="2468880"/>
            <a:ext cx="480060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047" y="265176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Dig into config files yourself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047" y="309067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Edit settings by hand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047" y="352958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C4C"/>
                </a:solidFill>
                <a:latin typeface="Calibri"/>
              </a:rPr>
              <a:t>✗  </a:t>
            </a:r>
            <a:r>
              <a:rPr sz="1400">
                <a:solidFill>
                  <a:srgbClr val="BBBBCC"/>
                </a:solidFill>
                <a:latin typeface="Calibri"/>
              </a:rPr>
              <a:t>Program it line by 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26967" y="4343400"/>
            <a:ext cx="2011680" cy="292608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E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E84C4C"/>
                </a:solidFill>
                <a:latin typeface="Calibri"/>
              </a:rPr>
              <a:t>BREAKS THINGS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8727" y="1691640"/>
            <a:ext cx="5349240" cy="310896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8727" y="1691640"/>
            <a:ext cx="5349240" cy="54864"/>
          </a:xfrm>
          <a:prstGeom prst="rect">
            <a:avLst/>
          </a:prstGeom>
          <a:solidFill>
            <a:srgbClr val="6BC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3047" y="1874520"/>
            <a:ext cx="502920" cy="502920"/>
          </a:xfrm>
          <a:prstGeom prst="round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>
                <a:solidFill>
                  <a:srgbClr val="6BC86B"/>
                </a:solidFill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3127" y="1892808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6BC86B"/>
                </a:solidFill>
                <a:latin typeface="Trebuchet MS"/>
              </a:rPr>
              <a:t>Do This Instead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047" y="2468880"/>
            <a:ext cx="480060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47" y="265176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Open a chat with your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309067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Tell it the outcome you want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047" y="352958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C86B"/>
                </a:solidFill>
                <a:latin typeface="Calibri"/>
              </a:rPr>
              <a:t>✓  </a:t>
            </a:r>
            <a:r>
              <a:rPr sz="1400">
                <a:solidFill>
                  <a:srgbClr val="BBBBCC"/>
                </a:solidFill>
                <a:latin typeface="Calibri"/>
              </a:rPr>
              <a:t>Let it figure out the how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6207" y="4343400"/>
            <a:ext cx="2377440" cy="292608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6BC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6BC86B"/>
                </a:solidFill>
                <a:latin typeface="Calibri"/>
              </a:rPr>
              <a:t>WORKS EVERY 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3727" y="4983480"/>
            <a:ext cx="11064240" cy="50292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3727" y="4983480"/>
            <a:ext cx="64008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3767" y="50292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E87A2C"/>
                </a:solidFill>
                <a:latin typeface="Calibri"/>
              </a:rPr>
              <a:t>"I want you to check for updates every 10 minutes instead of every 30."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THE SHIFT   </a:t>
            </a:r>
            <a:r>
              <a:rPr sz="1300">
                <a:solidFill>
                  <a:srgbClr val="BBBBCC"/>
                </a:solidFill>
                <a:latin typeface="Calibri"/>
              </a:rPr>
              <a:t>Treat your OpenClaw like a smart employee who you give goals to, not a machine you have to program. This single mindset change will save you hours.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