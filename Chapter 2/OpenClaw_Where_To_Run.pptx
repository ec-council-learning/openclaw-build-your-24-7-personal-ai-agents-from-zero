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10972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109728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10972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109728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8888AA"/>
                </a:solidFill>
                <a:latin typeface="Calibri"/>
              </a:rPr>
              <a:t>OPENCLAW COURSE  ·  SECTION 1  ·  CHOOSING YOUR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Trebuchet MS"/>
              </a:rPr>
              <a:t>Where to Run </a:t>
            </a:r>
            <a:r>
              <a:rPr sz="3800" b="1">
                <a:solidFill>
                  <a:srgbClr val="E87A2C"/>
                </a:solidFill>
                <a:latin typeface="Trebuchet MS"/>
              </a:rPr>
              <a:t>OpenClaw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BBBBCC"/>
                </a:solidFill>
                <a:latin typeface="Calibri"/>
              </a:rPr>
              <a:t>Three ways to run your agent — pick what fits you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147" y="1737360"/>
            <a:ext cx="3611880" cy="425196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5147" y="1737360"/>
            <a:ext cx="3611880" cy="54864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843887" y="1965960"/>
            <a:ext cx="914400" cy="914400"/>
          </a:xfrm>
          <a:prstGeom prst="ellipse">
            <a:avLst/>
          </a:prstGeom>
          <a:solidFill>
            <a:srgbClr val="2A2A45"/>
          </a:solidFill>
          <a:ln w="25400">
            <a:solidFill>
              <a:srgbClr val="E8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>
                <a:solidFill>
                  <a:srgbClr val="E87A2C"/>
                </a:solidFill>
              </a:rPr>
              <a:t>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467" y="3063239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7A2C"/>
                </a:solidFill>
                <a:latin typeface="Trebuchet MS"/>
              </a:rPr>
              <a:t>Personal Computer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467" y="3520439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BBBCC"/>
                </a:solidFill>
                <a:latin typeface="Calibri"/>
              </a:rPr>
              <a:t>Your existing laptop or desktop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9467" y="4023360"/>
            <a:ext cx="3063240" cy="18288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2347" y="4251960"/>
            <a:ext cx="2697480" cy="329184"/>
          </a:xfrm>
          <a:prstGeom prst="roundRect">
            <a:avLst/>
          </a:prstGeom>
          <a:solidFill>
            <a:srgbClr val="1E1E32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E87A2C"/>
                </a:solidFill>
                <a:latin typeface="Calibri"/>
              </a:rPr>
              <a:t>Cheapest start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2347" y="4690872"/>
            <a:ext cx="2697480" cy="329184"/>
          </a:xfrm>
          <a:prstGeom prst="roundRect">
            <a:avLst/>
          </a:prstGeom>
          <a:solidFill>
            <a:srgbClr val="1E1E32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E87A2C"/>
                </a:solidFill>
                <a:latin typeface="Calibri"/>
              </a:rPr>
              <a:t>Great for learning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2347" y="5129784"/>
            <a:ext cx="2697480" cy="329184"/>
          </a:xfrm>
          <a:prstGeom prst="roundRect">
            <a:avLst/>
          </a:prstGeom>
          <a:solidFill>
            <a:srgbClr val="1E1E32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E87A2C"/>
                </a:solidFill>
                <a:latin typeface="Calibri"/>
              </a:rPr>
              <a:t>Not built for 24/7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89907" y="1737360"/>
            <a:ext cx="3611880" cy="425196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89907" y="1737360"/>
            <a:ext cx="3611880" cy="54864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38647" y="1965960"/>
            <a:ext cx="914400" cy="914400"/>
          </a:xfrm>
          <a:prstGeom prst="ellipse">
            <a:avLst/>
          </a:prstGeom>
          <a:solidFill>
            <a:srgbClr val="2A2A45"/>
          </a:solidFill>
          <a:ln w="25400">
            <a:solidFill>
              <a:srgbClr val="2EC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>
                <a:solidFill>
                  <a:srgbClr val="2ECCB1"/>
                </a:solidFill>
              </a:rPr>
              <a:t>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4227" y="3063239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CCB1"/>
                </a:solidFill>
                <a:latin typeface="Trebuchet MS"/>
              </a:rPr>
              <a:t>Dedicated Hardware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4227" y="3520439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BBBCC"/>
                </a:solidFill>
                <a:latin typeface="Calibri"/>
              </a:rPr>
              <a:t>Mac Mini, spare PC, or home server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64227" y="4023360"/>
            <a:ext cx="3063240" cy="18288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47107" y="4251960"/>
            <a:ext cx="2697480" cy="329184"/>
          </a:xfrm>
          <a:prstGeom prst="roundRect">
            <a:avLst/>
          </a:prstGeom>
          <a:solidFill>
            <a:srgbClr val="1E1E32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2ECCB1"/>
                </a:solidFill>
                <a:latin typeface="Calibri"/>
              </a:rPr>
              <a:t>Full control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47107" y="4690872"/>
            <a:ext cx="2697480" cy="329184"/>
          </a:xfrm>
          <a:prstGeom prst="roundRect">
            <a:avLst/>
          </a:prstGeom>
          <a:solidFill>
            <a:srgbClr val="1E1E32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2ECCB1"/>
                </a:solidFill>
                <a:latin typeface="Calibri"/>
              </a:rPr>
              <a:t>Best for local AI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47107" y="5129784"/>
            <a:ext cx="2697480" cy="329184"/>
          </a:xfrm>
          <a:prstGeom prst="roundRect">
            <a:avLst/>
          </a:prstGeom>
          <a:solidFill>
            <a:srgbClr val="1E1E32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2ECCB1"/>
                </a:solidFill>
                <a:latin typeface="Calibri"/>
              </a:rPr>
              <a:t>Higher upfront cost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84667" y="1737360"/>
            <a:ext cx="3611880" cy="425196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84667" y="1737360"/>
            <a:ext cx="3611880" cy="54864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33407" y="1965960"/>
            <a:ext cx="914400" cy="914400"/>
          </a:xfrm>
          <a:prstGeom prst="ellipse">
            <a:avLst/>
          </a:prstGeom>
          <a:solidFill>
            <a:srgbClr val="2A2A45"/>
          </a:solidFill>
          <a:ln w="25400">
            <a:solidFill>
              <a:srgbClr val="9B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>
                <a:solidFill>
                  <a:srgbClr val="9B6BD6"/>
                </a:solidFill>
              </a:rPr>
              <a:t>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8987" y="3063239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B6BD6"/>
                </a:solidFill>
                <a:latin typeface="Trebuchet MS"/>
              </a:rPr>
              <a:t>VPS (Cloud Server)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8987" y="3520439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BBBCC"/>
                </a:solidFill>
                <a:latin typeface="Calibri"/>
              </a:rPr>
              <a:t>A computer that lives in the cloud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58987" y="4023360"/>
            <a:ext cx="3063240" cy="18288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541867" y="4251960"/>
            <a:ext cx="2697480" cy="329184"/>
          </a:xfrm>
          <a:prstGeom prst="roundRect">
            <a:avLst/>
          </a:prstGeom>
          <a:solidFill>
            <a:srgbClr val="1E1E32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9B6BD6"/>
                </a:solidFill>
                <a:latin typeface="Calibri"/>
              </a:rPr>
              <a:t>Always 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41867" y="4690872"/>
            <a:ext cx="2697480" cy="329184"/>
          </a:xfrm>
          <a:prstGeom prst="roundRect">
            <a:avLst/>
          </a:prstGeom>
          <a:solidFill>
            <a:srgbClr val="1E1E32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9B6BD6"/>
                </a:solidFill>
                <a:latin typeface="Calibri"/>
              </a:rPr>
              <a:t>No hardware to buy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41867" y="5129784"/>
            <a:ext cx="2697480" cy="329184"/>
          </a:xfrm>
          <a:prstGeom prst="roundRect">
            <a:avLst/>
          </a:prstGeom>
          <a:solidFill>
            <a:srgbClr val="1E1E32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9B6BD6"/>
                </a:solidFill>
                <a:latin typeface="Calibri"/>
              </a:rPr>
              <a:t>Ready in minutes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6263640"/>
            <a:ext cx="73152" cy="5029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263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E87A2C"/>
                </a:solidFill>
                <a:latin typeface="Calibri"/>
              </a:rPr>
              <a:t>WE'LL USE A VPS IN THIS COURSE   </a:t>
            </a:r>
            <a:r>
              <a:rPr sz="1300">
                <a:solidFill>
                  <a:srgbClr val="BBBBCC"/>
                </a:solidFill>
                <a:latin typeface="Calibri"/>
              </a:rPr>
              <a:t>It's the fastest and most beginner-friendly path to get OpenClaw running 24/7. You can always switch later.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10972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109728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10972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109728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8888AA"/>
                </a:solidFill>
                <a:latin typeface="Calibri"/>
              </a:rPr>
              <a:t>OPENCLAW COURSE  ·  SECTION 1  ·  CHOOSING YOUR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Trebuchet MS"/>
              </a:rPr>
              <a:t>Option 1: </a:t>
            </a:r>
            <a:r>
              <a:rPr sz="3800" b="1">
                <a:solidFill>
                  <a:srgbClr val="E87A2C"/>
                </a:solidFill>
                <a:latin typeface="Trebuchet MS"/>
              </a:rPr>
              <a:t>Your Personal Computer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BBBBCC"/>
                </a:solidFill>
                <a:latin typeface="Calibri"/>
              </a:rPr>
              <a:t>The cheapest and easiest place to start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727" y="1645920"/>
            <a:ext cx="5349240" cy="214884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3727" y="1645920"/>
            <a:ext cx="5349240" cy="54864"/>
          </a:xfrm>
          <a:prstGeom prst="rect">
            <a:avLst/>
          </a:prstGeom>
          <a:solidFill>
            <a:srgbClr val="6BC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047" y="181051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6BC86B"/>
                </a:solidFill>
                <a:latin typeface="Trebuchet MS"/>
              </a:rPr>
              <a:t>The Good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8047" y="2194560"/>
            <a:ext cx="4800600" cy="18288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047" y="235915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BC86B"/>
                </a:solidFill>
                <a:latin typeface="Calibri"/>
              </a:rPr>
              <a:t>✓  </a:t>
            </a:r>
            <a:r>
              <a:rPr sz="1400">
                <a:solidFill>
                  <a:srgbClr val="BBBBCC"/>
                </a:solidFill>
                <a:latin typeface="Calibri"/>
              </a:rPr>
              <a:t>Zero extra cost — use what you already 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047" y="277063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BC86B"/>
                </a:solidFill>
                <a:latin typeface="Calibri"/>
              </a:rPr>
              <a:t>✓  </a:t>
            </a:r>
            <a:r>
              <a:rPr sz="1400">
                <a:solidFill>
                  <a:srgbClr val="BBBBCC"/>
                </a:solidFill>
                <a:latin typeface="Calibri"/>
              </a:rPr>
              <a:t>Perfect for learning and experimenting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047" y="318211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BC86B"/>
                </a:solidFill>
                <a:latin typeface="Calibri"/>
              </a:rPr>
              <a:t>✓  </a:t>
            </a:r>
            <a:r>
              <a:rPr sz="1400">
                <a:solidFill>
                  <a:srgbClr val="BBBBCC"/>
                </a:solidFill>
                <a:latin typeface="Calibri"/>
              </a:rPr>
              <a:t>Fastest way to try OpenClaw for the first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8727" y="1645920"/>
            <a:ext cx="5349240" cy="214884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78727" y="1645920"/>
            <a:ext cx="5349240" cy="54864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3047" y="181051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E84C4C"/>
                </a:solidFill>
                <a:latin typeface="Trebuchet MS"/>
              </a:rPr>
              <a:t>The Trade-offs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047" y="2194560"/>
            <a:ext cx="4800600" cy="18288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047" y="235915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4C4C"/>
                </a:solidFill>
                <a:latin typeface="Calibri"/>
              </a:rPr>
              <a:t>✗  </a:t>
            </a:r>
            <a:r>
              <a:rPr sz="1400">
                <a:solidFill>
                  <a:srgbClr val="BBBBCC"/>
                </a:solidFill>
                <a:latin typeface="Calibri"/>
              </a:rPr>
              <a:t>Stops when your computer sleeps or shuts down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277063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4C4C"/>
                </a:solidFill>
                <a:latin typeface="Calibri"/>
              </a:rPr>
              <a:t>✗  </a:t>
            </a:r>
            <a:r>
              <a:rPr sz="1400">
                <a:solidFill>
                  <a:srgbClr val="BBBBCC"/>
                </a:solidFill>
                <a:latin typeface="Calibri"/>
              </a:rPr>
              <a:t>Not built for always-on 24/7 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047" y="318211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4C4C"/>
                </a:solidFill>
                <a:latin typeface="Calibri"/>
              </a:rPr>
              <a:t>✗  </a:t>
            </a:r>
            <a:r>
              <a:rPr sz="1400">
                <a:solidFill>
                  <a:srgbClr val="BBBBCC"/>
                </a:solidFill>
                <a:latin typeface="Calibri"/>
              </a:rPr>
              <a:t>Mixes your agent with your personal files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263640"/>
            <a:ext cx="73152" cy="5029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263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E87A2C"/>
                </a:solidFill>
                <a:latin typeface="Calibri"/>
              </a:rPr>
              <a:t>BEST FOR   </a:t>
            </a:r>
            <a:r>
              <a:rPr sz="1300">
                <a:solidFill>
                  <a:srgbClr val="BBBBCC"/>
                </a:solidFill>
                <a:latin typeface="Calibri"/>
              </a:rPr>
              <a:t>Testing, learning the basics, or experimenting with OpenClaw for a few hours before committing to a long-term setup.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10972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109728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10972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109728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8888AA"/>
                </a:solidFill>
                <a:latin typeface="Calibri"/>
              </a:rPr>
              <a:t>OPENCLAW COURSE  ·  SECTION 1  ·  CHOOSING YOUR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Trebuchet MS"/>
              </a:rPr>
              <a:t>Option 2: </a:t>
            </a:r>
            <a:r>
              <a:rPr sz="3800" b="1">
                <a:solidFill>
                  <a:srgbClr val="2ECCB1"/>
                </a:solidFill>
                <a:latin typeface="Trebuchet MS"/>
              </a:rPr>
              <a:t>Dedicated Hardware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BBBBCC"/>
                </a:solidFill>
                <a:latin typeface="Calibri"/>
              </a:rPr>
              <a:t>A separate machine that lives just for your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40967" y="1627632"/>
            <a:ext cx="2926080" cy="548640"/>
          </a:xfrm>
          <a:prstGeom prst="roundRect">
            <a:avLst/>
          </a:prstGeom>
          <a:solidFill>
            <a:srgbClr val="1E1E32"/>
          </a:solidFill>
          <a:ln w="19050">
            <a:solidFill>
              <a:srgbClr val="2EC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2ECCB1"/>
                </a:solidFill>
                <a:latin typeface="Calibri"/>
              </a:rPr>
              <a:t>🖥  Mac Mini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32807" y="1627632"/>
            <a:ext cx="2926080" cy="548640"/>
          </a:xfrm>
          <a:prstGeom prst="roundRect">
            <a:avLst/>
          </a:prstGeom>
          <a:solidFill>
            <a:srgbClr val="1E1E32"/>
          </a:solidFill>
          <a:ln w="19050">
            <a:solidFill>
              <a:srgbClr val="E8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E87A2C"/>
                </a:solidFill>
                <a:latin typeface="Calibri"/>
              </a:rPr>
              <a:t>💻  Spare PC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4647" y="1627632"/>
            <a:ext cx="2926080" cy="548640"/>
          </a:xfrm>
          <a:prstGeom prst="roundRect">
            <a:avLst/>
          </a:prstGeom>
          <a:solidFill>
            <a:srgbClr val="1E1E32"/>
          </a:solidFill>
          <a:ln w="19050">
            <a:solidFill>
              <a:srgbClr val="9B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9B6BD6"/>
                </a:solidFill>
                <a:latin typeface="Calibri"/>
              </a:rPr>
              <a:t>⚙  Home Server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3727" y="2423160"/>
            <a:ext cx="5349240" cy="256032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3727" y="2423160"/>
            <a:ext cx="5349240" cy="54864"/>
          </a:xfrm>
          <a:prstGeom prst="rect">
            <a:avLst/>
          </a:prstGeom>
          <a:solidFill>
            <a:srgbClr val="6BC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047" y="258775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6BC86B"/>
                </a:solidFill>
                <a:latin typeface="Trebuchet MS"/>
              </a:rPr>
              <a:t>The Good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8047" y="2971800"/>
            <a:ext cx="4800600" cy="18288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047" y="3136391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BC86B"/>
                </a:solidFill>
                <a:latin typeface="Calibri"/>
              </a:rPr>
              <a:t>✓  </a:t>
            </a:r>
            <a:r>
              <a:rPr sz="1400">
                <a:solidFill>
                  <a:srgbClr val="BBBBCC"/>
                </a:solidFill>
                <a:latin typeface="Calibri"/>
              </a:rPr>
              <a:t>Full isolation from your personal environment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047" y="354787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BC86B"/>
                </a:solidFill>
                <a:latin typeface="Calibri"/>
              </a:rPr>
              <a:t>✓  </a:t>
            </a:r>
            <a:r>
              <a:rPr sz="1400">
                <a:solidFill>
                  <a:srgbClr val="BBBBCC"/>
                </a:solidFill>
                <a:latin typeface="Calibri"/>
              </a:rPr>
              <a:t>Runs 24/7 with rock-solid uptime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047" y="395935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BC86B"/>
                </a:solidFill>
                <a:latin typeface="Calibri"/>
              </a:rPr>
              <a:t>✓  </a:t>
            </a:r>
            <a:r>
              <a:rPr sz="1400">
                <a:solidFill>
                  <a:srgbClr val="BBBBCC"/>
                </a:solidFill>
                <a:latin typeface="Calibri"/>
              </a:rPr>
              <a:t>Your data stays under your own 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047" y="437083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BC86B"/>
                </a:solidFill>
                <a:latin typeface="Calibri"/>
              </a:rPr>
              <a:t>✓  </a:t>
            </a:r>
            <a:r>
              <a:rPr sz="1400">
                <a:solidFill>
                  <a:srgbClr val="BBBBCC"/>
                </a:solidFill>
                <a:latin typeface="Calibri"/>
              </a:rPr>
              <a:t>Best path to running local AI models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8727" y="2423160"/>
            <a:ext cx="5349240" cy="256032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78727" y="2423160"/>
            <a:ext cx="5349240" cy="54864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047" y="258775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E84C4C"/>
                </a:solidFill>
                <a:latin typeface="Trebuchet MS"/>
              </a:rPr>
              <a:t>The Trade-offs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047" y="2971800"/>
            <a:ext cx="4800600" cy="18288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047" y="3136391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4C4C"/>
                </a:solidFill>
                <a:latin typeface="Calibri"/>
              </a:rPr>
              <a:t>✗  </a:t>
            </a:r>
            <a:r>
              <a:rPr sz="1400">
                <a:solidFill>
                  <a:srgbClr val="BBBBCC"/>
                </a:solidFill>
                <a:latin typeface="Calibri"/>
              </a:rPr>
              <a:t>Higher upfront cost (few hundred dollars or more)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3047" y="354787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4C4C"/>
                </a:solidFill>
                <a:latin typeface="Calibri"/>
              </a:rPr>
              <a:t>✗  </a:t>
            </a:r>
            <a:r>
              <a:rPr sz="1400">
                <a:solidFill>
                  <a:srgbClr val="BBBBCC"/>
                </a:solidFill>
                <a:latin typeface="Calibri"/>
              </a:rPr>
              <a:t>Takes more technical setup than a VPS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3047" y="395935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4C4C"/>
                </a:solidFill>
                <a:latin typeface="Calibri"/>
              </a:rPr>
              <a:t>✗  </a:t>
            </a:r>
            <a:r>
              <a:rPr sz="1400">
                <a:solidFill>
                  <a:srgbClr val="BBBBCC"/>
                </a:solidFill>
                <a:latin typeface="Calibri"/>
              </a:rPr>
              <a:t>You handle the hardware yourself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263640"/>
            <a:ext cx="73152" cy="5029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263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E87A2C"/>
                </a:solidFill>
                <a:latin typeface="Calibri"/>
              </a:rPr>
              <a:t>BEST FOR   </a:t>
            </a:r>
            <a:r>
              <a:rPr sz="1300">
                <a:solidFill>
                  <a:srgbClr val="BBBBCC"/>
                </a:solidFill>
                <a:latin typeface="Calibri"/>
              </a:rPr>
              <a:t>Long-term builders who want maximum control, flexibility, and the option to run local AI models down the 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10972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109728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10972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109728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8888AA"/>
                </a:solidFill>
                <a:latin typeface="Calibri"/>
              </a:rPr>
              <a:t>OPENCLAW COURSE  ·  SECTION 1  ·  CHOOSING YOUR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Trebuchet MS"/>
              </a:rPr>
              <a:t>Option 3: </a:t>
            </a:r>
            <a:r>
              <a:rPr sz="3800" b="1">
                <a:solidFill>
                  <a:srgbClr val="9B6BD6"/>
                </a:solidFill>
                <a:latin typeface="Trebuchet MS"/>
              </a:rPr>
              <a:t>VPS (Cloud Server)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BBBBCC"/>
                </a:solidFill>
                <a:latin typeface="Calibri"/>
              </a:rPr>
              <a:t>A computer in the cloud — rented, not owned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49527" y="1627632"/>
            <a:ext cx="2743200" cy="548640"/>
          </a:xfrm>
          <a:prstGeom prst="roundRect">
            <a:avLst/>
          </a:prstGeom>
          <a:solidFill>
            <a:srgbClr val="1E1E32"/>
          </a:solidFill>
          <a:ln w="19050">
            <a:solidFill>
              <a:srgbClr val="E8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E87A2C"/>
                </a:solidFill>
                <a:latin typeface="Calibri"/>
              </a:rPr>
              <a:t>📱  Your Device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5879" y="1879092"/>
            <a:ext cx="429768" cy="457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5400000">
            <a:off x="4449927" y="1773936"/>
            <a:ext cx="201168" cy="256032"/>
          </a:xfrm>
          <a:prstGeom prst="triangle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24247" y="1627632"/>
            <a:ext cx="2743200" cy="548640"/>
          </a:xfrm>
          <a:prstGeom prst="roundRect">
            <a:avLst/>
          </a:prstGeom>
          <a:solidFill>
            <a:srgbClr val="1E1E32"/>
          </a:solidFill>
          <a:ln w="19050">
            <a:solidFill>
              <a:srgbClr val="2EC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2ECCB1"/>
                </a:solidFill>
                <a:latin typeface="Calibri"/>
              </a:rPr>
              <a:t>🌐  Internet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0599" y="1879092"/>
            <a:ext cx="429768" cy="45720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7924647" y="1773936"/>
            <a:ext cx="201168" cy="256032"/>
          </a:xfrm>
          <a:prstGeom prst="triangle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98967" y="1627632"/>
            <a:ext cx="2743200" cy="548640"/>
          </a:xfrm>
          <a:prstGeom prst="roundRect">
            <a:avLst/>
          </a:prstGeom>
          <a:solidFill>
            <a:srgbClr val="1E1E32"/>
          </a:solidFill>
          <a:ln w="19050">
            <a:solidFill>
              <a:srgbClr val="9B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9B6BD6"/>
                </a:solidFill>
                <a:latin typeface="Calibri"/>
              </a:rPr>
              <a:t>☁  VPS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3727" y="2423160"/>
            <a:ext cx="5349240" cy="256032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3727" y="2423160"/>
            <a:ext cx="5349240" cy="54864"/>
          </a:xfrm>
          <a:prstGeom prst="rect">
            <a:avLst/>
          </a:prstGeom>
          <a:solidFill>
            <a:srgbClr val="6BC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047" y="258775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6BC86B"/>
                </a:solidFill>
                <a:latin typeface="Trebuchet MS"/>
              </a:rPr>
              <a:t>The Good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8047" y="2971800"/>
            <a:ext cx="4800600" cy="18288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047" y="3136391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BC86B"/>
                </a:solidFill>
                <a:latin typeface="Calibri"/>
              </a:rPr>
              <a:t>✓  </a:t>
            </a:r>
            <a:r>
              <a:rPr sz="1400">
                <a:solidFill>
                  <a:srgbClr val="BBBBCC"/>
                </a:solidFill>
                <a:latin typeface="Calibri"/>
              </a:rPr>
              <a:t>Runs 24/7 without touching your laptop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047" y="354787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BC86B"/>
                </a:solidFill>
                <a:latin typeface="Calibri"/>
              </a:rPr>
              <a:t>✓  </a:t>
            </a:r>
            <a:r>
              <a:rPr sz="1400">
                <a:solidFill>
                  <a:srgbClr val="BBBBCC"/>
                </a:solidFill>
                <a:latin typeface="Calibri"/>
              </a:rPr>
              <a:t>No hardware to buy or maintain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047" y="395935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BC86B"/>
                </a:solidFill>
                <a:latin typeface="Calibri"/>
              </a:rPr>
              <a:t>✓  </a:t>
            </a:r>
            <a:r>
              <a:rPr sz="1400">
                <a:solidFill>
                  <a:srgbClr val="BBBBCC"/>
                </a:solidFill>
                <a:latin typeface="Calibri"/>
              </a:rPr>
              <a:t>Up and running in under fifteen minutes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047" y="437083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BC86B"/>
                </a:solidFill>
                <a:latin typeface="Calibri"/>
              </a:rPr>
              <a:t>✓  </a:t>
            </a:r>
            <a:r>
              <a:rPr sz="1400">
                <a:solidFill>
                  <a:srgbClr val="BBBBCC"/>
                </a:solidFill>
                <a:latin typeface="Calibri"/>
              </a:rPr>
              <a:t>Small, predictable monthly cost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78727" y="2423160"/>
            <a:ext cx="5349240" cy="256032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78727" y="2423160"/>
            <a:ext cx="5349240" cy="54864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047" y="258775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E84C4C"/>
                </a:solidFill>
                <a:latin typeface="Trebuchet MS"/>
              </a:rPr>
              <a:t>The Trade-offs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3047" y="2971800"/>
            <a:ext cx="4800600" cy="18288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047" y="3136391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4C4C"/>
                </a:solidFill>
                <a:latin typeface="Calibri"/>
              </a:rPr>
              <a:t>✗  </a:t>
            </a:r>
            <a:r>
              <a:rPr sz="1400">
                <a:solidFill>
                  <a:srgbClr val="BBBBCC"/>
                </a:solidFill>
                <a:latin typeface="Calibri"/>
              </a:rPr>
              <a:t>Not ideal for heavy local AI model 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3047" y="354787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4C4C"/>
                </a:solidFill>
                <a:latin typeface="Calibri"/>
              </a:rPr>
              <a:t>✗  </a:t>
            </a:r>
            <a:r>
              <a:rPr sz="1400">
                <a:solidFill>
                  <a:srgbClr val="BBBBCC"/>
                </a:solidFill>
                <a:latin typeface="Calibri"/>
              </a:rPr>
              <a:t>Monthly fee instead of a one-time cost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263640"/>
            <a:ext cx="73152" cy="5029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263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E87A2C"/>
                </a:solidFill>
                <a:latin typeface="Calibri"/>
              </a:rPr>
              <a:t>BEST FOR   </a:t>
            </a:r>
            <a:r>
              <a:rPr sz="1300">
                <a:solidFill>
                  <a:srgbClr val="BBBBCC"/>
                </a:solidFill>
                <a:latin typeface="Calibri"/>
              </a:rPr>
              <a:t>Beginners who want a reliable always-on setup without spending money on hardware. This is the path we'll follow in this course.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10972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109728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10972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109728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8888AA"/>
                </a:solidFill>
                <a:latin typeface="Calibri"/>
              </a:rPr>
              <a:t>OPENCLAW COURSE  ·  SECTION 1  ·  CHOOSING YOUR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Trebuchet MS"/>
              </a:rPr>
              <a:t>Which One Should </a:t>
            </a:r>
            <a:r>
              <a:rPr sz="3800" b="1">
                <a:solidFill>
                  <a:srgbClr val="E87A2C"/>
                </a:solidFill>
                <a:latin typeface="Trebuchet MS"/>
              </a:rPr>
              <a:t>You Pick?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BBBBCC"/>
                </a:solidFill>
                <a:latin typeface="Calibri"/>
              </a:rPr>
              <a:t>There's no wrong answer — here's a quick guide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11094415" cy="132588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37360"/>
            <a:ext cx="11094415" cy="54864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938528"/>
            <a:ext cx="502920" cy="50292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E8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E87A2C"/>
                </a:solidFill>
                <a:latin typeface="Trebuchet M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7451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1">
                <a:solidFill>
                  <a:srgbClr val="BBBBCC"/>
                </a:solidFill>
                <a:latin typeface="Calibri"/>
              </a:rPr>
              <a:t>Just curious and experimenting?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2386584"/>
            <a:ext cx="758952" cy="54864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2267712" y="2286000"/>
            <a:ext cx="201168" cy="256032"/>
          </a:xfrm>
          <a:prstGeom prst="triangle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697480" y="2267712"/>
            <a:ext cx="2926080" cy="365760"/>
          </a:xfrm>
          <a:prstGeom prst="roundRect">
            <a:avLst/>
          </a:prstGeom>
          <a:solidFill>
            <a:srgbClr val="1E1E32"/>
          </a:solidFill>
          <a:ln w="19050">
            <a:solidFill>
              <a:srgbClr val="E8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E87A2C"/>
                </a:solidFill>
                <a:latin typeface="Trebuchet MS"/>
              </a:rPr>
              <a:t>Personal Computer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697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8888AA"/>
                </a:solidFill>
                <a:latin typeface="Calibri"/>
              </a:rPr>
              <a:t>Fastest way to get a feel for OpenClaw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00400"/>
            <a:ext cx="11094415" cy="132588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200400"/>
            <a:ext cx="11094415" cy="54864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3401568"/>
            <a:ext cx="502920" cy="50292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2EC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2ECCB1"/>
                </a:solidFill>
                <a:latin typeface="Trebuchet M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337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1">
                <a:solidFill>
                  <a:srgbClr val="BBBBCC"/>
                </a:solidFill>
                <a:latin typeface="Calibri"/>
              </a:rPr>
              <a:t>Thinking long-term with maximum control?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3849623"/>
            <a:ext cx="758952" cy="54864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 rot="5400000">
            <a:off x="2267712" y="3749039"/>
            <a:ext cx="201168" cy="256032"/>
          </a:xfrm>
          <a:prstGeom prst="triangle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697480" y="3730752"/>
            <a:ext cx="2926080" cy="365760"/>
          </a:xfrm>
          <a:prstGeom prst="roundRect">
            <a:avLst/>
          </a:prstGeom>
          <a:solidFill>
            <a:srgbClr val="1E1E32"/>
          </a:solidFill>
          <a:ln w="19050">
            <a:solidFill>
              <a:srgbClr val="2EC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2ECCB1"/>
                </a:solidFill>
                <a:latin typeface="Trebuchet MS"/>
              </a:rPr>
              <a:t>Dedicated Hardware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160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8888AA"/>
                </a:solidFill>
                <a:latin typeface="Calibri"/>
              </a:rPr>
              <a:t>Best for future local AI setups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663440"/>
            <a:ext cx="11094415" cy="132588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663440"/>
            <a:ext cx="11094415" cy="54864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4864607"/>
            <a:ext cx="502920" cy="50292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9B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9B6BD6"/>
                </a:solidFill>
                <a:latin typeface="Trebuchet MS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800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1">
                <a:solidFill>
                  <a:srgbClr val="BBBBCC"/>
                </a:solidFill>
                <a:latin typeface="Calibri"/>
              </a:rPr>
              <a:t>Want the easiest 24/7 setup right now?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54480" y="5312663"/>
            <a:ext cx="758952" cy="54864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 rot="5400000">
            <a:off x="2267712" y="5212079"/>
            <a:ext cx="201168" cy="256032"/>
          </a:xfrm>
          <a:prstGeom prst="triangle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697480" y="5193792"/>
            <a:ext cx="2926080" cy="365760"/>
          </a:xfrm>
          <a:prstGeom prst="roundRect">
            <a:avLst/>
          </a:prstGeom>
          <a:solidFill>
            <a:srgbClr val="1E1E32"/>
          </a:solidFill>
          <a:ln w="19050">
            <a:solidFill>
              <a:srgbClr val="9B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9B6BD6"/>
                </a:solidFill>
                <a:latin typeface="Trebuchet MS"/>
              </a:rPr>
              <a:t>VPS (Cloud Server)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562355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8888AA"/>
                </a:solidFill>
                <a:latin typeface="Calibri"/>
              </a:rPr>
              <a:t>What we'll use in this course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263640"/>
            <a:ext cx="73152" cy="5029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E87A2C"/>
                </a:solidFill>
                <a:latin typeface="Calibri"/>
              </a:rPr>
              <a:t>YOU CAN ALWAYS SWITCH LATER   </a:t>
            </a:r>
            <a:r>
              <a:rPr sz="1300">
                <a:solidFill>
                  <a:srgbClr val="BBBBCC"/>
                </a:solidFill>
                <a:latin typeface="Calibri"/>
              </a:rPr>
              <a:t>OpenClaw works the same way no matter where you run it. Pick what fits your budget and goals today, and change your mind anytime.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