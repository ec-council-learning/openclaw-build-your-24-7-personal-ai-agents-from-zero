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SETTING UP  ·  WHEN TO USE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Trebuchet MS"/>
              </a:rPr>
              <a:t>Four Tools, </a:t>
            </a:r>
            <a:r>
              <a:rPr sz="3400" b="1">
                <a:solidFill>
                  <a:srgbClr val="E87A2C"/>
                </a:solidFill>
                <a:latin typeface="Trebuchet MS"/>
              </a:rPr>
              <a:t>Four Different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Each one is built for something the others can't do well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548640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73152" cy="23317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645920"/>
            <a:ext cx="502920" cy="50292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E87A2C"/>
                </a:solidFill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16642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7A2C"/>
                </a:solidFill>
                <a:latin typeface="Trebuchet MS"/>
              </a:rPr>
              <a:t>OpenClaw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240280"/>
            <a:ext cx="507492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042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BBBBCC"/>
                </a:solidFill>
                <a:latin typeface="Calibri"/>
              </a:rPr>
              <a:t>Open-source AI agent that runs 24/7 on your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A2C"/>
                </a:solidFill>
                <a:latin typeface="Calibri"/>
              </a:rPr>
              <a:t>Runs on:  </a:t>
            </a:r>
            <a:r>
              <a:rPr sz="1000">
                <a:solidFill>
                  <a:srgbClr val="BBBBCC"/>
                </a:solidFill>
                <a:latin typeface="Calibri"/>
              </a:rPr>
              <a:t>Your VPS, Mac Mini, or 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9923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A2C"/>
                </a:solidFill>
                <a:latin typeface="Calibri"/>
              </a:rPr>
              <a:t>Talks to you via:  </a:t>
            </a:r>
            <a:r>
              <a:rPr sz="1000">
                <a:solidFill>
                  <a:srgbClr val="BBBBCC"/>
                </a:solidFill>
                <a:latin typeface="Calibri"/>
              </a:rPr>
              <a:t>Telegram, WhatsApp, Slack, Discord (24+ channels)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64991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7A2C"/>
                </a:solidFill>
                <a:latin typeface="Calibri"/>
              </a:rPr>
              <a:t>Locked to:  </a:t>
            </a:r>
            <a:r>
              <a:rPr sz="1000">
                <a:solidFill>
                  <a:srgbClr val="BBBBCC"/>
                </a:solidFill>
                <a:latin typeface="Calibri"/>
              </a:rPr>
              <a:t>No single AI model — works with Claude, GPT, Gemini, Kimi, local, 200+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463040"/>
            <a:ext cx="548640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463040"/>
            <a:ext cx="73152" cy="23317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1645920"/>
            <a:ext cx="502920" cy="50292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2ECCB1"/>
                </a:solidFill>
              </a:rPr>
              <a:t>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6642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CCB1"/>
                </a:solidFill>
                <a:latin typeface="Trebuchet MS"/>
              </a:rPr>
              <a:t>Claude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240280"/>
            <a:ext cx="507492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30428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BBBBCC"/>
                </a:solidFill>
                <a:latin typeface="Calibri"/>
              </a:rPr>
              <a:t>Anthropic's AI coding agent that lives in your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3347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CCB1"/>
                </a:solidFill>
                <a:latin typeface="Calibri"/>
              </a:rPr>
              <a:t>Runs on:  </a:t>
            </a:r>
            <a:r>
              <a:rPr sz="1000">
                <a:solidFill>
                  <a:srgbClr val="BBBBCC"/>
                </a:solidFill>
                <a:latin typeface="Calibri"/>
              </a:rPr>
              <a:t>Your local machine (terminal, VS Code, JetBrains)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9923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CCB1"/>
                </a:solidFill>
                <a:latin typeface="Calibri"/>
              </a:rPr>
              <a:t>Talks to you via:  </a:t>
            </a:r>
            <a:r>
              <a:rPr sz="1000">
                <a:solidFill>
                  <a:srgbClr val="BBBBCC"/>
                </a:solidFill>
                <a:latin typeface="Calibri"/>
              </a:rPr>
              <a:t>Terminal commands or IDE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64991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CCB1"/>
                </a:solidFill>
                <a:latin typeface="Calibri"/>
              </a:rPr>
              <a:t>Locked to:  </a:t>
            </a:r>
            <a:r>
              <a:rPr sz="1000">
                <a:solidFill>
                  <a:srgbClr val="BBBBCC"/>
                </a:solidFill>
                <a:latin typeface="Calibri"/>
              </a:rPr>
              <a:t>Best with Claude models (can use others via CLI)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86200"/>
            <a:ext cx="548640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86200"/>
            <a:ext cx="73152" cy="23317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4069080"/>
            <a:ext cx="502920" cy="50292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9B6BD6"/>
                </a:solidFill>
              </a:rPr>
              <a:t>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40873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9B6BD6"/>
                </a:solidFill>
                <a:latin typeface="Trebuchet MS"/>
              </a:rPr>
              <a:t>Cowork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663440"/>
            <a:ext cx="507492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7274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BBBBCC"/>
                </a:solidFill>
                <a:latin typeface="Calibri"/>
              </a:rPr>
              <a:t>Claude Code's power repackaged for non-technical desktop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5663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B6BD6"/>
                </a:solidFill>
                <a:latin typeface="Calibri"/>
              </a:rPr>
              <a:t>Runs on:  </a:t>
            </a:r>
            <a:r>
              <a:rPr sz="1000">
                <a:solidFill>
                  <a:srgbClr val="BBBBCC"/>
                </a:solidFill>
                <a:latin typeface="Calibri"/>
              </a:rPr>
              <a:t>Claude Desktop app (Mac or Windows)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223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B6BD6"/>
                </a:solidFill>
                <a:latin typeface="Calibri"/>
              </a:rPr>
              <a:t>Talks to you via:  </a:t>
            </a:r>
            <a:r>
              <a:rPr sz="1000">
                <a:solidFill>
                  <a:srgbClr val="BBBBCC"/>
                </a:solidFill>
                <a:latin typeface="Calibri"/>
              </a:rPr>
              <a:t>Desktop app interface (no terminal needed)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8815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B6BD6"/>
                </a:solidFill>
                <a:latin typeface="Calibri"/>
              </a:rPr>
              <a:t>Locked to:  </a:t>
            </a:r>
            <a:r>
              <a:rPr sz="1000">
                <a:solidFill>
                  <a:srgbClr val="BBBBCC"/>
                </a:solidFill>
                <a:latin typeface="Calibri"/>
              </a:rPr>
              <a:t>Claude models only (Anthropic)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886200"/>
            <a:ext cx="5486400" cy="23317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886200"/>
            <a:ext cx="73152" cy="2331720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0" y="4069080"/>
            <a:ext cx="502920" cy="50292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6B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>
                <a:solidFill>
                  <a:srgbClr val="6BC86B"/>
                </a:solidFill>
              </a:rPr>
              <a:t>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0873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6BC86B"/>
                </a:solidFill>
                <a:latin typeface="Trebuchet MS"/>
              </a:rPr>
              <a:t>n8n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663440"/>
            <a:ext cx="5074920" cy="18288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72744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BBBBCC"/>
                </a:solidFill>
                <a:latin typeface="Calibri"/>
              </a:rPr>
              <a:t>Open-source visual workflow automation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5663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C86B"/>
                </a:solidFill>
                <a:latin typeface="Calibri"/>
              </a:rPr>
              <a:t>Runs on:  </a:t>
            </a:r>
            <a:r>
              <a:rPr sz="1000">
                <a:solidFill>
                  <a:srgbClr val="BBBBCC"/>
                </a:solidFill>
                <a:latin typeface="Calibri"/>
              </a:rPr>
              <a:t>Your server or n8n Cloud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4223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C86B"/>
                </a:solidFill>
                <a:latin typeface="Calibri"/>
              </a:rPr>
              <a:t>Talks to you via:  </a:t>
            </a:r>
            <a:r>
              <a:rPr sz="1000">
                <a:solidFill>
                  <a:srgbClr val="BBBBCC"/>
                </a:solidFill>
                <a:latin typeface="Calibri"/>
              </a:rPr>
              <a:t>Web dashboard with drag-and-drop nodes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78815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C86B"/>
                </a:solidFill>
                <a:latin typeface="Calibri"/>
              </a:rPr>
              <a:t>Locked to:  </a:t>
            </a:r>
            <a:r>
              <a:rPr sz="1000">
                <a:solidFill>
                  <a:srgbClr val="BBBBCC"/>
                </a:solidFill>
                <a:latin typeface="Calibri"/>
              </a:rPr>
              <a:t>No single AI model — supports any LLM via API nodes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E87A2C"/>
                </a:solidFill>
                <a:latin typeface="Calibri"/>
              </a:rPr>
              <a:t>KEY INSIGHT   </a:t>
            </a:r>
            <a:r>
              <a:rPr sz="1200">
                <a:solidFill>
                  <a:srgbClr val="BBBBCC"/>
                </a:solidFill>
                <a:latin typeface="Calibri"/>
              </a:rPr>
              <a:t>OpenClaw and n8n are open-source and model-agnostic. Claude Code and Cowork work best with Claude models and are tied to Anthropic's pricing. This matters for cost, flexibility, and what happens if pricing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SETTING UP  ·  WHEN TO USE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Trebuchet MS"/>
              </a:rPr>
              <a:t>The Real Differences </a:t>
            </a:r>
            <a:r>
              <a:rPr sz="3400" b="1">
                <a:solidFill>
                  <a:srgbClr val="E87A2C"/>
                </a:solidFill>
                <a:latin typeface="Trebuchet MS"/>
              </a:rPr>
              <a:t>That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Not what they can do — but how they think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1463040"/>
            <a:ext cx="2331720" cy="41148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0"/>
          <a:lstStyle/>
          <a:p>
            <a:pPr algn="ctr"/>
            <a:r>
              <a:rPr sz="1400" b="1">
                <a:solidFill>
                  <a:srgbClr val="E87A2C"/>
                </a:solidFill>
                <a:latin typeface="Trebuchet MS"/>
              </a:rPr>
              <a:t>OpenClaw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463040"/>
            <a:ext cx="2331720" cy="457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19" y="1463040"/>
            <a:ext cx="2331720" cy="41148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0"/>
          <a:lstStyle/>
          <a:p>
            <a:pPr algn="ctr"/>
            <a:r>
              <a:rPr sz="1400" b="1">
                <a:solidFill>
                  <a:srgbClr val="2ECCB1"/>
                </a:solidFill>
                <a:latin typeface="Trebuchet MS"/>
              </a:rPr>
              <a:t>Claude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19" y="1463040"/>
            <a:ext cx="2331720" cy="457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59" y="1463040"/>
            <a:ext cx="2331720" cy="41148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0"/>
          <a:lstStyle/>
          <a:p>
            <a:pPr algn="ctr"/>
            <a:r>
              <a:rPr sz="1400" b="1">
                <a:solidFill>
                  <a:srgbClr val="9B6BD6"/>
                </a:solidFill>
                <a:latin typeface="Trebuchet MS"/>
              </a:rPr>
              <a:t>Cowork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59" y="1463040"/>
            <a:ext cx="2331720" cy="457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29799" y="1463040"/>
            <a:ext cx="2331720" cy="41148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0"/>
          <a:lstStyle/>
          <a:p>
            <a:pPr algn="ctr"/>
            <a:r>
              <a:rPr sz="1400" b="1">
                <a:solidFill>
                  <a:srgbClr val="6BC86B"/>
                </a:solidFill>
                <a:latin typeface="Trebuchet MS"/>
              </a:rPr>
              <a:t>n8n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799" y="1463040"/>
            <a:ext cx="2331720" cy="45720"/>
          </a:xfrm>
          <a:prstGeom prst="rect">
            <a:avLst/>
          </a:prstGeom>
          <a:solidFill>
            <a:srgbClr val="6BC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1920240"/>
            <a:ext cx="2103120" cy="777240"/>
          </a:xfrm>
          <a:prstGeom prst="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How it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64008" cy="77724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79" y="1920240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You give it a goal, it figures out the steps on its 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19" y="1920240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You describe what to build, it writes and tests the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59" y="1920240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You describe the outcome, it plans and executes on your desktop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799" y="1920240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You draw exact steps in advance, it follows them every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24912"/>
            <a:ext cx="2103120" cy="777240"/>
          </a:xfrm>
          <a:prstGeom prst="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Runs without you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724912"/>
            <a:ext cx="64008" cy="77724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97479" y="2724912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Yes — 24/7 cron jobs, heartbeat, fully autonomous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19" y="2724912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New: /loop scheduled tasks, but primarily interactive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59" y="2724912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Yes — scheduled tasks for recurring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799" y="2724912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Yes — triggers fire automatically on events or schedules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29584"/>
            <a:ext cx="2103120" cy="777240"/>
          </a:xfrm>
          <a:prstGeom prst="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Needs technical skills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29584"/>
            <a:ext cx="64008" cy="77724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97479" y="3529584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Basic — VPS setup once, then everything via chat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19" y="3529584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Medium — terminal comfort helps, but vibe-coding is real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59" y="3529584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None — designed for non-technical people, no terminal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799" y="3529584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Medium — visual builder but you need to understand APIs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34256"/>
            <a:ext cx="2103120" cy="777240"/>
          </a:xfrm>
          <a:prstGeom prst="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Best 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64008" cy="77724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97479" y="4334256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Autonomous life/business tasks via messaging apps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19" y="4334256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Building, debugging, and shipping production software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59" y="4334256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Desktop knowledge work — files, docs, research, reports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29799" y="4334256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Deterministic high-volume pipelines that must never vary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138928"/>
            <a:ext cx="2103120" cy="777240"/>
          </a:xfrm>
          <a:prstGeom prst="rect">
            <a:avLst/>
          </a:prstGeom>
          <a:solidFill>
            <a:srgbClr val="1E1E32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Cost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138928"/>
            <a:ext cx="64008" cy="77724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97479" y="5138928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Free software + pay for AI model APIs ($0-80/mo)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4919" y="5138928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Anthropic subscription ($20-200/mo) + rate limits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59" y="5138928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Anthropic subscription ($20-200/mo) + rate limits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799" y="5138928"/>
            <a:ext cx="2331720" cy="777240"/>
          </a:xfrm>
          <a:prstGeom prst="rect">
            <a:avLst/>
          </a:prstGeom>
          <a:solidFill>
            <a:srgbClr val="22223A"/>
          </a:solidFill>
          <a:ln w="635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/>
            <a:r>
              <a:rPr sz="1000">
                <a:solidFill>
                  <a:srgbClr val="BBBBCC"/>
                </a:solidFill>
                <a:latin typeface="Calibri"/>
              </a:rPr>
              <a:t>Free self-hosted or $20-140/mo cloud + AI APIs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E87A2C"/>
                </a:solidFill>
                <a:latin typeface="Calibri"/>
              </a:rPr>
              <a:t>THE DECISION   </a:t>
            </a:r>
            <a:r>
              <a:rPr sz="1200">
                <a:solidFill>
                  <a:srgbClr val="BBBBCC"/>
                </a:solidFill>
                <a:latin typeface="Calibri"/>
              </a:rPr>
              <a:t>Autonomous via messaging → OpenClaw. Building software → Claude Code. Desktop work, no terminal → Cowork. Fixed pipelines → n8n.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SETTING UP  ·  WHEN TO USE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Trebuchet MS"/>
              </a:rPr>
              <a:t>They Work Best </a:t>
            </a:r>
            <a:r>
              <a:rPr sz="3400" b="1">
                <a:solidFill>
                  <a:srgbClr val="E87A2C"/>
                </a:solidFill>
                <a:latin typeface="Trebuchet MS"/>
              </a:rPr>
              <a:t>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The most powerful setups in 2026 combine two or three of these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11094415" cy="1417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73152" cy="14173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691639"/>
            <a:ext cx="457200" cy="45720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87A2C"/>
                </a:solidFill>
                <a:latin typeface="Trebuchet M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099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87A2C"/>
                </a:solidFill>
                <a:latin typeface="Trebuchet MS"/>
              </a:rPr>
              <a:t>The Smart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194560"/>
            <a:ext cx="4480560" cy="5943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/>
          <a:lstStyle/>
          <a:p>
            <a:pPr algn="ctr"/>
            <a:r>
              <a:rPr sz="1300" b="1">
                <a:solidFill>
                  <a:srgbClr val="E87A2C"/>
                </a:solidFill>
                <a:latin typeface="Trebuchet MS"/>
              </a:rPr>
              <a:t>OpenClaw  </a:t>
            </a:r>
            <a:r>
              <a:rPr sz="1100">
                <a:solidFill>
                  <a:srgbClr val="BBBBCC"/>
                </a:solidFill>
                <a:latin typeface="Calibri"/>
              </a:rPr>
              <a:t>Reads your email, understands context, decides what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5312" y="2464308"/>
            <a:ext cx="155448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035040" y="2372868"/>
            <a:ext cx="201168" cy="237744"/>
          </a:xfrm>
          <a:prstGeom prst="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194560"/>
            <a:ext cx="5013655" cy="5943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6BC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/>
          <a:lstStyle/>
          <a:p>
            <a:pPr algn="ctr"/>
            <a:r>
              <a:rPr sz="1300" b="1">
                <a:solidFill>
                  <a:srgbClr val="6BC86B"/>
                </a:solidFill>
                <a:latin typeface="Trebuchet MS"/>
              </a:rPr>
              <a:t>n8n  </a:t>
            </a:r>
            <a:r>
              <a:rPr sz="1100">
                <a:solidFill>
                  <a:srgbClr val="BBBBCC"/>
                </a:solidFill>
                <a:latin typeface="Calibri"/>
              </a:rPr>
              <a:t>Sends the reply, updates CRM, creates invoice — same steps every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35808"/>
            <a:ext cx="11094415" cy="1417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35808"/>
            <a:ext cx="73152" cy="14173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218688"/>
            <a:ext cx="457200" cy="45720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ECCB1"/>
                </a:solidFill>
                <a:latin typeface="Trebuchet M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36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CCB1"/>
                </a:solidFill>
                <a:latin typeface="Trebuchet MS"/>
              </a:rPr>
              <a:t>The Builder + Operator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721608"/>
            <a:ext cx="4480560" cy="5943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/>
          <a:lstStyle/>
          <a:p>
            <a:pPr algn="ctr"/>
            <a:r>
              <a:rPr sz="1300" b="1">
                <a:solidFill>
                  <a:srgbClr val="2ECCB1"/>
                </a:solidFill>
                <a:latin typeface="Trebuchet MS"/>
              </a:rPr>
              <a:t>Claude Code  </a:t>
            </a:r>
            <a:r>
              <a:rPr sz="1100">
                <a:solidFill>
                  <a:srgbClr val="BBBBCC"/>
                </a:solidFill>
                <a:latin typeface="Calibri"/>
              </a:rPr>
              <a:t>Builds the app, writes the code, ships the feature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991356"/>
            <a:ext cx="155448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6035040" y="3899916"/>
            <a:ext cx="201168" cy="237744"/>
          </a:xfrm>
          <a:prstGeom prst="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721608"/>
            <a:ext cx="5013655" cy="5943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/>
          <a:lstStyle/>
          <a:p>
            <a:pPr algn="ctr"/>
            <a:r>
              <a:rPr sz="1300" b="1">
                <a:solidFill>
                  <a:srgbClr val="E87A2C"/>
                </a:solidFill>
                <a:latin typeface="Trebuchet MS"/>
              </a:rPr>
              <a:t>OpenClaw  </a:t>
            </a:r>
            <a:r>
              <a:rPr sz="1100">
                <a:solidFill>
                  <a:srgbClr val="BBBBCC"/>
                </a:solidFill>
                <a:latin typeface="Calibri"/>
              </a:rPr>
              <a:t>Monitors it 24/7, alerts you on errors, runs nightly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62856"/>
            <a:ext cx="11094415" cy="1417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62856"/>
            <a:ext cx="73152" cy="14173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745736"/>
            <a:ext cx="457200" cy="45720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9B6BD6"/>
                </a:solidFill>
                <a:latin typeface="Trebuchet M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764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9B6BD6"/>
                </a:solidFill>
                <a:latin typeface="Trebuchet MS"/>
              </a:rPr>
              <a:t>The Full Stack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248656"/>
            <a:ext cx="4480560" cy="5943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/>
          <a:lstStyle/>
          <a:p>
            <a:pPr algn="ctr"/>
            <a:r>
              <a:rPr sz="1300" b="1">
                <a:solidFill>
                  <a:srgbClr val="9B6BD6"/>
                </a:solidFill>
                <a:latin typeface="Trebuchet MS"/>
              </a:rPr>
              <a:t>Cowork  </a:t>
            </a:r>
            <a:r>
              <a:rPr sz="1100">
                <a:solidFill>
                  <a:srgbClr val="BBBBCC"/>
                </a:solidFill>
                <a:latin typeface="Calibri"/>
              </a:rPr>
              <a:t>Quick one-off research, cleans up files, drafts a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5518404"/>
            <a:ext cx="155448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6035040" y="5426964"/>
            <a:ext cx="201168" cy="237744"/>
          </a:xfrm>
          <a:prstGeom prst="triangle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80" y="5248656"/>
            <a:ext cx="5013655" cy="594360"/>
          </a:xfrm>
          <a:prstGeom prst="roundRect">
            <a:avLst/>
          </a:prstGeom>
          <a:solidFill>
            <a:srgbClr val="1E1E32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/>
          <a:lstStyle/>
          <a:p>
            <a:pPr algn="ctr"/>
            <a:r>
              <a:rPr sz="1300" b="1">
                <a:solidFill>
                  <a:srgbClr val="E87A2C"/>
                </a:solidFill>
                <a:latin typeface="Trebuchet MS"/>
              </a:rPr>
              <a:t>OpenClaw  </a:t>
            </a:r>
            <a:r>
              <a:rPr sz="1100">
                <a:solidFill>
                  <a:srgbClr val="BBBBCC"/>
                </a:solidFill>
                <a:latin typeface="Calibri"/>
              </a:rPr>
              <a:t>Turns that into a recurring automated workflow via Telegram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E87A2C"/>
                </a:solidFill>
                <a:latin typeface="Calibri"/>
              </a:rPr>
              <a:t>A JAPANESE POWER USER   </a:t>
            </a:r>
            <a:r>
              <a:rPr sz="1200">
                <a:solidFill>
                  <a:srgbClr val="BBBBCC"/>
                </a:solidFill>
                <a:latin typeface="Calibri"/>
              </a:rPr>
              <a:t>described running "4 layers" — Claude Code as the brain, OpenClaw as the secretary handling chat channels, n8n as the hands handling structured processes, plus a backup research agent. All running in parallel.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