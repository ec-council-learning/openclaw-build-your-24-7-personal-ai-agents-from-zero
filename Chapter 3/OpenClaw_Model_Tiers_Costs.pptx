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438339" cy="109728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2438339" y="0"/>
            <a:ext cx="2438339" cy="109728"/>
          </a:xfrm>
          <a:prstGeom prst="rect">
            <a:avLst/>
          </a:prstGeom>
          <a:solidFill>
            <a:srgbClr val="E84C4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4876678" y="0"/>
            <a:ext cx="2438339" cy="109728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315017" y="0"/>
            <a:ext cx="2438339" cy="109728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9753356" y="0"/>
            <a:ext cx="2438339" cy="109728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2286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100">
                <a:solidFill>
                  <a:srgbClr val="8888AA"/>
                </a:solidFill>
                <a:latin typeface="Calibri"/>
              </a:rPr>
              <a:t>OPENCLAW COURSE  ·  MODELS  ·  TIERS &amp; COSTS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029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600" b="1">
                <a:solidFill>
                  <a:srgbClr val="FFFFFF"/>
                </a:solidFill>
                <a:latin typeface="Trebuchet MS"/>
              </a:rPr>
              <a:t>Model Tiers &amp; What They </a:t>
            </a:r>
            <a:r>
              <a:rPr sz="3600" b="1">
                <a:solidFill>
                  <a:srgbClr val="E87A2C"/>
                </a:solidFill>
                <a:latin typeface="Trebuchet MS"/>
              </a:rPr>
              <a:t>Cost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097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i="1">
                <a:solidFill>
                  <a:srgbClr val="BBBBCC"/>
                </a:solidFill>
                <a:latin typeface="Calibri"/>
              </a:rPr>
              <a:t>Use the right model for the right job — your wallet will thank you</a:t>
            </a:r>
          </a:p>
        </p:txBody>
      </p:sp>
      <p:sp>
        <p:nvSpPr>
          <p:cNvPr id="10" name="Rectangle 9"/>
          <p:cNvSpPr/>
          <p:nvPr/>
        </p:nvSpPr>
        <p:spPr>
          <a:xfrm>
            <a:off x="548640" y="1691640"/>
            <a:ext cx="5303520" cy="2103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48640" y="1691640"/>
            <a:ext cx="5303520" cy="54864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777240" y="1856232"/>
            <a:ext cx="320040" cy="256032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188720" y="1856232"/>
            <a:ext cx="914400" cy="256032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TIER 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222199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Flagship Models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7240" y="2542032"/>
            <a:ext cx="484632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Claude Opus, GPT-5.2 Pro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Most powerful, best reasoning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$100–300+/month if used for everything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$2–6 per complex prompt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583679" y="1691640"/>
            <a:ext cx="5303520" cy="2103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583679" y="1691640"/>
            <a:ext cx="5303520" cy="54864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812279" y="1856232"/>
            <a:ext cx="320040" cy="256032"/>
          </a:xfrm>
          <a:prstGeom prst="rect">
            <a:avLst/>
          </a:prstGeom>
          <a:solidFill>
            <a:srgbClr val="2ECCB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223759" y="1856232"/>
            <a:ext cx="914400" cy="256032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TIER 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812279" y="222199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Everyday Models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812279" y="2542032"/>
            <a:ext cx="4846320" cy="11612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Claude Sonnet, GPT-5.2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Great for daily tasks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$30–80/month with regular use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4206240"/>
            <a:ext cx="5303520" cy="2103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48640" y="4206240"/>
            <a:ext cx="5303520" cy="54864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777240" y="4370831"/>
            <a:ext cx="320040" cy="256032"/>
          </a:xfrm>
          <a:prstGeom prst="rect">
            <a:avLst/>
          </a:prstGeom>
          <a:solidFill>
            <a:srgbClr val="E8C8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188720" y="4370831"/>
            <a:ext cx="914400" cy="256032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TIER 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77240" y="473659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Budget Models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5056631"/>
            <a:ext cx="48463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Claude Haiku, GPT-5.2 Mini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Fast and cheap, good for routine tasks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$5–20/month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Haiku is 25x cheaper than Opus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583679" y="4206240"/>
            <a:ext cx="5303520" cy="2103120"/>
          </a:xfrm>
          <a:prstGeom prst="rect">
            <a:avLst/>
          </a:prstGeom>
          <a:solidFill>
            <a:srgbClr val="22223A"/>
          </a:solidFill>
          <a:ln w="12700">
            <a:solidFill>
              <a:srgbClr val="3333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6583679" y="4206240"/>
            <a:ext cx="5303520" cy="54864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812279" y="4370831"/>
            <a:ext cx="320040" cy="256032"/>
          </a:xfrm>
          <a:prstGeom prst="rect">
            <a:avLst/>
          </a:prstGeom>
          <a:solidFill>
            <a:srgbClr val="9B6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1" name="Rectangle 30"/>
          <p:cNvSpPr/>
          <p:nvPr/>
        </p:nvSpPr>
        <p:spPr>
          <a:xfrm>
            <a:off x="7223759" y="4370831"/>
            <a:ext cx="914400" cy="256032"/>
          </a:xfrm>
          <a:prstGeom prst="rect">
            <a:avLst/>
          </a:prstGeom>
          <a:solidFill>
            <a:srgbClr val="2A2A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900" b="1">
                <a:solidFill>
                  <a:srgbClr val="FFFFFF"/>
                </a:solidFill>
                <a:latin typeface="Calibri"/>
              </a:rPr>
              <a:t>FREE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6812279" y="4736592"/>
            <a:ext cx="48463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FFFFF"/>
                </a:solidFill>
                <a:latin typeface="Trebuchet MS"/>
              </a:rPr>
              <a:t>Free Options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812279" y="5056631"/>
            <a:ext cx="4846320" cy="11612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Kimi K2.5 via NVIDIA, local models via Ollama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$0 but slower and less capable</a:t>
            </a:r>
          </a:p>
          <a:p>
            <a:pPr>
              <a:spcAft>
                <a:spcPts val="300"/>
              </a:spcAft>
            </a:pPr>
            <a:r>
              <a:rPr sz="1250">
                <a:solidFill>
                  <a:srgbClr val="BBBBCC"/>
                </a:solidFill>
                <a:latin typeface="Calibri"/>
              </a:rPr>
              <a:t>Great as a fallback</a:t>
            </a:r>
          </a:p>
        </p:txBody>
      </p:sp>
      <p:sp>
        <p:nvSpPr>
          <p:cNvPr id="34" name="Rectangle 33"/>
          <p:cNvSpPr/>
          <p:nvPr/>
        </p:nvSpPr>
        <p:spPr>
          <a:xfrm>
            <a:off x="0" y="6263640"/>
            <a:ext cx="12191695" cy="502920"/>
          </a:xfrm>
          <a:prstGeom prst="rect">
            <a:avLst/>
          </a:prstGeom>
          <a:solidFill>
            <a:srgbClr val="15152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0" y="6263640"/>
            <a:ext cx="73152" cy="502920"/>
          </a:xfrm>
          <a:prstGeom prst="rect">
            <a:avLst/>
          </a:prstGeom>
          <a:solidFill>
            <a:srgbClr val="E87A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457200" y="6263640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1">
                <a:solidFill>
                  <a:srgbClr val="E87A2C"/>
                </a:solidFill>
                <a:latin typeface="Calibri"/>
              </a:rPr>
              <a:t>GOLDEN RULE   </a:t>
            </a:r>
            <a:r>
              <a:rPr sz="1300">
                <a:solidFill>
                  <a:srgbClr val="BBBBCC"/>
                </a:solidFill>
                <a:latin typeface="Calibri"/>
              </a:rPr>
              <a:t>Use a powerful model for thinking and planning. Use a cheap model for doing the actual work. We'll set this up in the next lesson.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