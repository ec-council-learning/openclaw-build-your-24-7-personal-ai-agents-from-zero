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MODELS  ·  HOW YOU 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Two Ways to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Pay</a:t>
            </a:r>
            <a:r>
              <a:rPr sz="3600" b="1">
                <a:solidFill>
                  <a:srgbClr val="FFFFFF"/>
                </a:solidFill>
                <a:latin typeface="Trebuchet MS"/>
              </a:rPr>
              <a:t> for AI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Understanding this will save you a lot of money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303520" cy="3108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530352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10512"/>
            <a:ext cx="1097280" cy="2743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API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037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Pay Per Use (API Key)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51176"/>
            <a:ext cx="484632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Create an API key, load credits, pay per token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Like a pay-as-you-go plan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Works with: Anthropic (Claude), OpenAI, others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Cost: depends on usage — can be $5 to $300+/month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708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777799"/>
                </a:solidFill>
                <a:latin typeface="Calibri"/>
              </a:rPr>
              <a:t>This is how we connected Anthropic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45920"/>
            <a:ext cx="5303520" cy="3108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45920"/>
            <a:ext cx="530352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1810512"/>
            <a:ext cx="1371600" cy="2743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SUBSCRIPTION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037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Flat Rate (OAuth Subscription)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51176"/>
            <a:ext cx="484632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Connect your existing ChatGPT subscription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No extra per-token cost — covered by your plan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ChatGPT Plus ($20/mo) = weekly usage quota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ChatGPT Pro ($200/mo) = higher/unlimited quota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Models: Codex, GPT-5.4, GPT-5.4 Mini, GPT-5.2 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708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777799"/>
                </a:solidFill>
                <a:latin typeface="Calibri"/>
              </a:rPr>
              <a:t>This is what we're adding in this lesson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5303520" cy="777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54864" cy="77724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38928"/>
            <a:ext cx="48920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E84C4C"/>
                </a:solidFill>
                <a:latin typeface="Calibri"/>
              </a:rPr>
              <a:t>Anthropic </a:t>
            </a:r>
            <a:r>
              <a:rPr sz="1250" b="0">
                <a:solidFill>
                  <a:srgbClr val="BBBBCC"/>
                </a:solidFill>
                <a:latin typeface="Calibri"/>
              </a:rPr>
              <a:t>blocked subscription use in OpenClaw. Some users had accounts cancelled. With Anthropic, </a:t>
            </a:r>
            <a:r>
              <a:rPr sz="1250" b="1">
                <a:solidFill>
                  <a:srgbClr val="FFFFFF"/>
                </a:solidFill>
                <a:latin typeface="Calibri"/>
              </a:rPr>
              <a:t>only use API keys.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029200"/>
            <a:ext cx="5303520" cy="777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5029200"/>
            <a:ext cx="54864" cy="77724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138928"/>
            <a:ext cx="48920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ECCB1"/>
                </a:solidFill>
                <a:latin typeface="Calibri"/>
              </a:rPr>
              <a:t>OpenAI </a:t>
            </a:r>
            <a:r>
              <a:rPr sz="1250" b="0">
                <a:solidFill>
                  <a:srgbClr val="BBBBCC"/>
                </a:solidFill>
                <a:latin typeface="Calibri"/>
              </a:rPr>
              <a:t>actively supports subscription use in OpenClaw. It's completely safe and </a:t>
            </a:r>
            <a:r>
              <a:rPr sz="1250" b="1">
                <a:solidFill>
                  <a:srgbClr val="FFFFFF"/>
                </a:solidFill>
                <a:latin typeface="Calibri"/>
              </a:rPr>
              <a:t>officially approved.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BEST STRATEGY   </a:t>
            </a:r>
            <a:r>
              <a:rPr sz="1300">
                <a:solidFill>
                  <a:srgbClr val="BBBBCC"/>
                </a:solidFill>
                <a:latin typeface="Calibri"/>
              </a:rPr>
              <a:t>Claude models work best with OpenClaw. Use Anthropic API key for Claude, ChatGPT subscription for cost savings, and a free model as fallback.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MODELS  ·  SETUP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What We're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Setting Up</a:t>
            </a:r>
            <a:r>
              <a:rPr sz="3600" b="1">
                <a:solidFill>
                  <a:srgbClr val="FFFFFF"/>
                </a:solidFill>
                <a:latin typeface="Trebuchet MS"/>
              </a:rPr>
              <a:t> in This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Four steps to a cost-optimised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1106424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09928"/>
            <a:ext cx="292608" cy="23774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1288" y="1709928"/>
            <a:ext cx="914400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00253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Connect ChatGPT Subscription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58568"/>
            <a:ext cx="10607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Link your ChatGPT account through OAuth — no extra cost per 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06039"/>
            <a:ext cx="11064240" cy="8686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606039"/>
            <a:ext cx="11064240" cy="5486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15768"/>
            <a:ext cx="292608" cy="23774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61288" y="2715768"/>
            <a:ext cx="932688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CLEAN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08375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Remove Unused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64407"/>
            <a:ext cx="10607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Delete placeholder fallbacks that aren't connected to anything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11879"/>
            <a:ext cx="11064240" cy="960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11879"/>
            <a:ext cx="1106424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721607"/>
            <a:ext cx="292608" cy="23774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61288" y="3721607"/>
            <a:ext cx="914400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14215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Set Up Smart Routing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70248"/>
            <a:ext cx="106070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Opus for planning, Sonnet for daily tasks, Haiku for routine work. Agent automatically picks the cheapest model that can handle each job.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709159"/>
            <a:ext cx="11064240" cy="960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709159"/>
            <a:ext cx="1106424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818888"/>
            <a:ext cx="292608" cy="23774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61288" y="4818888"/>
            <a:ext cx="932688" cy="237744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1149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Add a Free Backup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67528"/>
            <a:ext cx="106070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Kimi K2.5 via NVIDIA (free) as last resort. So your agent can at least tell you what went wrong instead of going silent.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END RESULT   </a:t>
            </a:r>
            <a:r>
              <a:rPr sz="1300">
                <a:solidFill>
                  <a:srgbClr val="BBBBCC"/>
                </a:solidFill>
                <a:latin typeface="Calibri"/>
              </a:rPr>
              <a:t>Multiple models connected, smart routing active, free fallback in place. Use your agent without worrying about costs.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