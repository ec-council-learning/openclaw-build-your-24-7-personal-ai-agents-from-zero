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888AA"/>
                </a:solidFill>
                <a:latin typeface="Calibri"/>
              </a:rPr>
              <a:t>OPENCLAW COURSE  ·  INTRODUCTION  ·  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Trebuchet MS"/>
              </a:rPr>
              <a:t>Why This Matters </a:t>
            </a:r>
            <a:r>
              <a:rPr sz="3800" b="1">
                <a:solidFill>
                  <a:srgbClr val="E87A2C"/>
                </a:solidFill>
                <a:latin typeface="Trebuchet MS"/>
              </a:rPr>
              <a:t>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BBBBCC"/>
                </a:solidFill>
                <a:latin typeface="Calibri"/>
              </a:rPr>
              <a:t>Three things that make OpenClaw different from every other AI 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" y="1783080"/>
            <a:ext cx="3611880" cy="41605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427" y="1783080"/>
            <a:ext cx="73152" cy="41605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5507" y="2011680"/>
            <a:ext cx="457200" cy="3200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E87A2C"/>
                </a:solidFill>
                <a:latin typeface="Trebuchet MS"/>
              </a:rPr>
              <a:t>01</a:t>
            </a:r>
          </a:p>
        </p:txBody>
      </p:sp>
      <p:sp>
        <p:nvSpPr>
          <p:cNvPr id="13" name="Oval 12"/>
          <p:cNvSpPr/>
          <p:nvPr/>
        </p:nvSpPr>
        <p:spPr>
          <a:xfrm>
            <a:off x="1752447" y="2240280"/>
            <a:ext cx="1005840" cy="1005840"/>
          </a:xfrm>
          <a:prstGeom prst="ellipse">
            <a:avLst/>
          </a:prstGeom>
          <a:solidFill>
            <a:srgbClr val="2A2A45"/>
          </a:solidFill>
          <a:ln w="2540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0">
                <a:solidFill>
                  <a:srgbClr val="E87A2C"/>
                </a:solidFill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" y="3474720"/>
            <a:ext cx="3154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E87A2C"/>
                </a:solidFill>
                <a:latin typeface="Trebuchet MS"/>
              </a:rPr>
              <a:t>Open Source &amp; Foundation-Backed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187" y="4389120"/>
            <a:ext cx="288036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027" y="4526280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BBBCC"/>
                </a:solidFill>
                <a:latin typeface="Calibri"/>
              </a:rPr>
              <a:t>No single company controls it. It's governed by a foundation, not a corporation. Your setup won't disappear if a company changes direction.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89907" y="1783080"/>
            <a:ext cx="3611880" cy="41605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89907" y="1783080"/>
            <a:ext cx="73152" cy="416052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15987" y="2011680"/>
            <a:ext cx="457200" cy="3200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2ECCB1"/>
                </a:solidFill>
                <a:latin typeface="Trebuchet MS"/>
              </a:rPr>
              <a:t>02</a:t>
            </a:r>
          </a:p>
        </p:txBody>
      </p:sp>
      <p:sp>
        <p:nvSpPr>
          <p:cNvPr id="20" name="Oval 19"/>
          <p:cNvSpPr/>
          <p:nvPr/>
        </p:nvSpPr>
        <p:spPr>
          <a:xfrm>
            <a:off x="5592927" y="2240280"/>
            <a:ext cx="1005840" cy="1005840"/>
          </a:xfrm>
          <a:prstGeom prst="ellipse">
            <a:avLst/>
          </a:prstGeom>
          <a:solidFill>
            <a:srgbClr val="2A2A45"/>
          </a:solidFill>
          <a:ln w="2540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0">
                <a:solidFill>
                  <a:srgbClr val="2ECCB1"/>
                </a:solidFill>
              </a:rPr>
              <a:t>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8507" y="3474720"/>
            <a:ext cx="3154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ECCB1"/>
                </a:solidFill>
                <a:latin typeface="Trebuchet MS"/>
              </a:rPr>
              <a:t>Model-Agnostic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55667" y="4389120"/>
            <a:ext cx="288036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8507" y="4526280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BBBCC"/>
                </a:solidFill>
                <a:latin typeface="Calibri"/>
              </a:rPr>
              <a:t>Works with Claude, GPT, Gemini, Kimi, DeepSeek, local models, and 200+ more through OpenRouter. You're never locked to one provider.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0387" y="1783080"/>
            <a:ext cx="3611880" cy="41605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0387" y="1783080"/>
            <a:ext cx="73152" cy="4160520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056467" y="2011680"/>
            <a:ext cx="457200" cy="3200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9B6BD6"/>
                </a:solidFill>
                <a:latin typeface="Trebuchet MS"/>
              </a:rPr>
              <a:t>03</a:t>
            </a:r>
          </a:p>
        </p:txBody>
      </p:sp>
      <p:sp>
        <p:nvSpPr>
          <p:cNvPr id="27" name="Oval 26"/>
          <p:cNvSpPr/>
          <p:nvPr/>
        </p:nvSpPr>
        <p:spPr>
          <a:xfrm>
            <a:off x="9433407" y="2240280"/>
            <a:ext cx="1005840" cy="1005840"/>
          </a:xfrm>
          <a:prstGeom prst="ellipse">
            <a:avLst/>
          </a:prstGeom>
          <a:solidFill>
            <a:srgbClr val="2A2A45"/>
          </a:solidFill>
          <a:ln w="2540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000">
                <a:solidFill>
                  <a:srgbClr val="9B6BD6"/>
                </a:solidFill>
              </a:rPr>
              <a:t>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8987" y="3474720"/>
            <a:ext cx="3154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9B6BD6"/>
                </a:solidFill>
                <a:latin typeface="Trebuchet MS"/>
              </a:rPr>
              <a:t>Self-Hosted &amp; Private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96147" y="4389120"/>
            <a:ext cx="288036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8987" y="4526280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BBBCC"/>
                </a:solidFill>
                <a:latin typeface="Calibri"/>
              </a:rPr>
              <a:t>Runs on your own hardware. Your data stays on your server. No one else sees your conversations, your files, or your workflows.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THE BIGGER PICTURE   </a:t>
            </a:r>
            <a:r>
              <a:rPr sz="1200">
                <a:solidFill>
                  <a:srgbClr val="BBBBCC"/>
                </a:solidFill>
                <a:latin typeface="Calibri"/>
              </a:rPr>
              <a:t>AI agents existed before OpenClaw. What OpenClaw did is make autonomous, always-on agents accessible to everyone through open source — building toward agentic operating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