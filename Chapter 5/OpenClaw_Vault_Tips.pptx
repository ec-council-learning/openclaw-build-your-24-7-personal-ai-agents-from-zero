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888AA"/>
                </a:solidFill>
                <a:latin typeface="Calibri"/>
              </a:rPr>
              <a:t>OPENCLAW COURSE  ·  OBSIDIAN VAULT  ·  BEST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E87A2C"/>
                </a:solidFill>
                <a:latin typeface="Trebuchet MS"/>
              </a:rPr>
              <a:t>5 Tips </a:t>
            </a:r>
            <a:r>
              <a:rPr sz="3800" b="1">
                <a:solidFill>
                  <a:srgbClr val="FFFFFF"/>
                </a:solidFill>
                <a:latin typeface="Trebuchet MS"/>
              </a:rPr>
              <a:t>for Working with Your Vault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BBBBCC"/>
                </a:solidFill>
                <a:latin typeface="Calibri"/>
              </a:rPr>
              <a:t>Small habits that make a big difference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64208"/>
            <a:ext cx="11094415" cy="804672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64208"/>
            <a:ext cx="64008" cy="804672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828800"/>
            <a:ext cx="457200" cy="45720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E87A2C"/>
                </a:solidFill>
                <a:latin typeface="Trebuchet M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755648"/>
            <a:ext cx="99056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87A2C"/>
                </a:solidFill>
                <a:latin typeface="Trebuchet MS"/>
              </a:rPr>
              <a:t>Be patient with sync 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103120"/>
            <a:ext cx="99056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5 minutes is the default — use Cmd+P → git pull for instant sync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60320"/>
            <a:ext cx="11094415" cy="804672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560320"/>
            <a:ext cx="64008" cy="804672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724912"/>
            <a:ext cx="457200" cy="45720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2ECCB1"/>
                </a:solidFill>
                <a:latin typeface="Trebuchet M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651760"/>
            <a:ext cx="99056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ECCB1"/>
                </a:solidFill>
                <a:latin typeface="Trebuchet MS"/>
              </a:rPr>
              <a:t>Be specific when asking Ace to create 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99232"/>
            <a:ext cx="99056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Tell Ace exactly which folder and what name you want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56432"/>
            <a:ext cx="11094415" cy="804672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56432"/>
            <a:ext cx="64008" cy="804672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621024"/>
            <a:ext cx="457200" cy="45720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E8C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E8C82C"/>
                </a:solidFill>
                <a:latin typeface="Trebuchet M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47872"/>
            <a:ext cx="99056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8C82C"/>
                </a:solidFill>
                <a:latin typeface="Trebuchet MS"/>
              </a:rPr>
              <a:t>Start small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895344"/>
            <a:ext cx="99056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Don't migrate everything on day one — let your vault grow naturally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52544"/>
            <a:ext cx="11094415" cy="804672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352544"/>
            <a:ext cx="64008" cy="804672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517136"/>
            <a:ext cx="457200" cy="45720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E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E84C4C"/>
                </a:solidFill>
                <a:latin typeface="Trebuchet M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443983"/>
            <a:ext cx="99056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84C4C"/>
                </a:solidFill>
                <a:latin typeface="Trebuchet MS"/>
              </a:rPr>
              <a:t>Your token expires in 90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791456"/>
            <a:ext cx="99056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When it stops working, generate a new one and give it to 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48656"/>
            <a:ext cx="11094415" cy="804672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248656"/>
            <a:ext cx="64008" cy="804672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7240" y="5413248"/>
            <a:ext cx="457200" cy="45720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9B6BD6"/>
                </a:solidFill>
                <a:latin typeface="Trebuchet M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340096"/>
            <a:ext cx="99056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9B6BD6"/>
                </a:solidFill>
                <a:latin typeface="Trebuchet MS"/>
              </a:rPr>
              <a:t>Review Ace's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687568"/>
            <a:ext cx="99056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Treat Ace like a junior team member — check before trusting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KEY HABIT   </a:t>
            </a:r>
            <a:r>
              <a:rPr sz="1300">
                <a:solidFill>
                  <a:srgbClr val="BBBBCC"/>
                </a:solidFill>
                <a:latin typeface="Calibri"/>
              </a:rPr>
              <a:t>These five habits will keep your vault clean, your agent reliable, and your workflow smooth.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