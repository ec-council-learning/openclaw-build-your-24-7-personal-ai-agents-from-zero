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109728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109728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109728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109728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109728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8888AA"/>
                </a:solidFill>
                <a:latin typeface="Calibri"/>
              </a:rPr>
              <a:t>OPENCLAW COURSE  ·  AUTOMATIONS  ·  WHEN TO USE WHAT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Trebuchet MS"/>
              </a:rPr>
              <a:t>Cron Jobs </a:t>
            </a:r>
            <a:r>
              <a:rPr sz="3600" b="1">
                <a:solidFill>
                  <a:srgbClr val="E87A2C"/>
                </a:solidFill>
                <a:latin typeface="Trebuchet MS"/>
              </a:rPr>
              <a:t>vs </a:t>
            </a:r>
            <a:r>
              <a:rPr sz="3600" b="1">
                <a:solidFill>
                  <a:srgbClr val="2ECCB1"/>
                </a:solidFill>
                <a:latin typeface="Trebuchet MS"/>
              </a:rPr>
              <a:t>Heartbeat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BBBBCC"/>
                </a:solidFill>
                <a:latin typeface="Calibri"/>
              </a:rPr>
              <a:t>Two automation styles — pick the right one for the job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5303520" cy="347472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691640"/>
            <a:ext cx="5303520" cy="54864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87A2C"/>
                </a:solidFill>
                <a:latin typeface="Trebuchet MS"/>
              </a:rPr>
              <a:t>Cron Jobs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3317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BBBBCC"/>
                </a:solidFill>
                <a:latin typeface="Calibri"/>
              </a:rPr>
              <a:t>Scheduled tasks at set times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59" y="2788920"/>
            <a:ext cx="4754880" cy="18288"/>
          </a:xfrm>
          <a:prstGeom prst="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9718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7A2C"/>
                </a:solidFill>
                <a:latin typeface="Calibri"/>
              </a:rPr>
              <a:t>●  </a:t>
            </a:r>
            <a:r>
              <a:rPr sz="1300">
                <a:solidFill>
                  <a:srgbClr val="BBBBCC"/>
                </a:solidFill>
                <a:latin typeface="Calibri"/>
              </a:rPr>
              <a:t>Daily briefing every morning at 8am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335584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7A2C"/>
                </a:solidFill>
                <a:latin typeface="Calibri"/>
              </a:rPr>
              <a:t>●  </a:t>
            </a:r>
            <a:r>
              <a:rPr sz="1300">
                <a:solidFill>
                  <a:srgbClr val="BBBBCC"/>
                </a:solidFill>
                <a:latin typeface="Calibri"/>
              </a:rPr>
              <a:t>Weekly review every Friday at 5pm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739896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7A2C"/>
                </a:solidFill>
                <a:latin typeface="Calibri"/>
              </a:rPr>
              <a:t>●  </a:t>
            </a:r>
            <a:r>
              <a:rPr sz="1300">
                <a:solidFill>
                  <a:srgbClr val="BBBBCC"/>
                </a:solidFill>
                <a:latin typeface="Calibri"/>
              </a:rPr>
              <a:t>Reminder to check analytics on Monday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20240" y="4663440"/>
            <a:ext cx="2560320" cy="292608"/>
          </a:xfrm>
          <a:prstGeom prst="rect">
            <a:avLst/>
          </a:prstGeom>
          <a:solidFill>
            <a:srgbClr val="1E1E32"/>
          </a:solidFill>
          <a:ln w="12700">
            <a:solidFill>
              <a:srgbClr val="E8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E87A2C"/>
                </a:solidFill>
                <a:latin typeface="Calibri"/>
              </a:rPr>
              <a:t>RUNS ONCE AT A SET TIME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691640"/>
            <a:ext cx="5303520" cy="347472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1691640"/>
            <a:ext cx="5303520" cy="54864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ECCB1"/>
                </a:solidFill>
                <a:latin typeface="Trebuchet MS"/>
              </a:rPr>
              <a:t>Heartbeat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3317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BBBBCC"/>
                </a:solidFill>
                <a:latin typeface="Calibri"/>
              </a:rPr>
              <a:t>Background monitoring at regular intervals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2788920"/>
            <a:ext cx="4754880" cy="18288"/>
          </a:xfrm>
          <a:prstGeom prst="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29718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ECCB1"/>
                </a:solidFill>
                <a:latin typeface="Calibri"/>
              </a:rPr>
              <a:t>●  </a:t>
            </a:r>
            <a:r>
              <a:rPr sz="1300">
                <a:solidFill>
                  <a:srgbClr val="BBBBCC"/>
                </a:solidFill>
                <a:latin typeface="Calibri"/>
              </a:rPr>
              <a:t>Watch for urgent emails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35584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ECCB1"/>
                </a:solidFill>
                <a:latin typeface="Calibri"/>
              </a:rPr>
              <a:t>●  </a:t>
            </a:r>
            <a:r>
              <a:rPr sz="1300">
                <a:solidFill>
                  <a:srgbClr val="BBBBCC"/>
                </a:solidFill>
                <a:latin typeface="Calibri"/>
              </a:rPr>
              <a:t>Check for meetings in the next hour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739896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ECCB1"/>
                </a:solidFill>
                <a:latin typeface="Calibri"/>
              </a:rPr>
              <a:t>●  </a:t>
            </a:r>
            <a:r>
              <a:rPr sz="1300">
                <a:solidFill>
                  <a:srgbClr val="BBBBCC"/>
                </a:solidFill>
                <a:latin typeface="Calibri"/>
              </a:rPr>
              <a:t>Alert me only if something needs attention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0" y="4663440"/>
            <a:ext cx="2560320" cy="292608"/>
          </a:xfrm>
          <a:prstGeom prst="rect">
            <a:avLst/>
          </a:prstGeom>
          <a:solidFill>
            <a:srgbClr val="1E1E32"/>
          </a:solidFill>
          <a:ln w="12700">
            <a:solidFill>
              <a:srgbClr val="2EC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2ECCB1"/>
                </a:solidFill>
                <a:latin typeface="Calibri"/>
              </a:rPr>
              <a:t>RUNS EVERY 30 MINUTES</a:t>
            </a:r>
          </a:p>
        </p:txBody>
      </p:sp>
      <p:sp>
        <p:nvSpPr>
          <p:cNvPr id="28" name="Oval 27"/>
          <p:cNvSpPr/>
          <p:nvPr/>
        </p:nvSpPr>
        <p:spPr>
          <a:xfrm>
            <a:off x="5806440" y="3154680"/>
            <a:ext cx="548640" cy="548640"/>
          </a:xfrm>
          <a:prstGeom prst="ellipse">
            <a:avLst/>
          </a:prstGeom>
          <a:solidFill>
            <a:srgbClr val="1A1A2E"/>
          </a:solidFill>
          <a:ln w="254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Trebuchet MS"/>
              </a:rPr>
              <a:t>VS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263640"/>
            <a:ext cx="12191695" cy="50292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263640"/>
            <a:ext cx="73152" cy="502920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2636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 b="1">
                <a:solidFill>
                  <a:srgbClr val="E87A2C"/>
                </a:solidFill>
                <a:latin typeface="Calibri"/>
              </a:rPr>
              <a:t>RULE OF THUMB   </a:t>
            </a:r>
            <a:r>
              <a:rPr sz="1300">
                <a:solidFill>
                  <a:srgbClr val="BBBBCC"/>
                </a:solidFill>
                <a:latin typeface="Calibri"/>
              </a:rPr>
              <a:t>If it happens at a specific time, use a cron job. If it needs constant watching, use heartbeat. Keep heartbeat lightweight to save tokens.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