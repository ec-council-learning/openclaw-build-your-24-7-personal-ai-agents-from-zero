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39" cy="109728"/>
          </a:xfrm>
          <a:prstGeom prst="rect">
            <a:avLst/>
          </a:prstGeom>
          <a:solidFill>
            <a:srgbClr val="E8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39" cy="109728"/>
          </a:xfrm>
          <a:prstGeom prst="rect">
            <a:avLst/>
          </a:prstGeom>
          <a:solidFill>
            <a:srgbClr val="E8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39" cy="109728"/>
          </a:xfrm>
          <a:prstGeom prst="rect">
            <a:avLst/>
          </a:prstGeom>
          <a:solidFill>
            <a:srgbClr val="2EC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39" cy="109728"/>
          </a:xfrm>
          <a:prstGeom prst="rect">
            <a:avLst/>
          </a:prstGeom>
          <a:solidFill>
            <a:srgbClr val="E8C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39" cy="109728"/>
          </a:xfrm>
          <a:prstGeom prst="rect">
            <a:avLst/>
          </a:prstGeom>
          <a:solidFill>
            <a:srgbClr val="9B6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28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8888AA"/>
                </a:solidFill>
                <a:latin typeface="Calibri"/>
              </a:rPr>
              <a:t>OPENCLAW COURSE  ·  YOUR AGENT'S BRAIN  ·  BUSINESS CONTEXT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Trebuchet MS"/>
              </a:rPr>
              <a:t>Business Brain </a:t>
            </a:r>
            <a:r>
              <a:rPr sz="3600" b="1">
                <a:solidFill>
                  <a:srgbClr val="E87A2C"/>
                </a:solidFill>
                <a:latin typeface="Trebuchet MS"/>
              </a:rPr>
              <a:t>Levels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i="1">
                <a:solidFill>
                  <a:srgbClr val="BBBBCC"/>
                </a:solidFill>
                <a:latin typeface="Calibri"/>
              </a:rPr>
              <a:t>Start with Level 1 and build up over time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508760"/>
            <a:ext cx="11094415" cy="1298448"/>
          </a:xfrm>
          <a:prstGeom prst="rect">
            <a:avLst/>
          </a:prstGeom>
          <a:solidFill>
            <a:srgbClr val="22223A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508760"/>
            <a:ext cx="11094415" cy="45720"/>
          </a:xfrm>
          <a:prstGeom prst="rect">
            <a:avLst/>
          </a:prstGeom>
          <a:solidFill>
            <a:srgbClr val="E8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1691639"/>
            <a:ext cx="384048" cy="384048"/>
          </a:xfrm>
          <a:prstGeom prst="roundRect">
            <a:avLst/>
          </a:prstGeom>
          <a:solidFill>
            <a:srgbClr val="2A2A45"/>
          </a:solidFill>
          <a:ln w="12700">
            <a:solidFill>
              <a:srgbClr val="E87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E87A2C"/>
                </a:solidFill>
                <a:latin typeface="Trebuchet M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161848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E87A2C"/>
                </a:solidFill>
                <a:latin typeface="Trebuchet MS"/>
              </a:rPr>
              <a:t>Level 1 — Foundation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1892807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BBBBCC"/>
                </a:solidFill>
                <a:latin typeface="Calibri"/>
              </a:rPr>
              <a:t>What every agent needs before it can represent you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216712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E87A2C"/>
                </a:solidFill>
                <a:latin typeface="Calibri"/>
              </a:rPr>
              <a:t>●  </a:t>
            </a:r>
            <a:r>
              <a:rPr sz="1100" b="1">
                <a:solidFill>
                  <a:srgbClr val="FFFFFF"/>
                </a:solidFill>
                <a:latin typeface="Calibri"/>
              </a:rPr>
              <a:t>About Me</a:t>
            </a:r>
            <a:r>
              <a:rPr sz="1100">
                <a:solidFill>
                  <a:srgbClr val="BBBBCC"/>
                </a:solidFill>
                <a:latin typeface="Calibri"/>
              </a:rPr>
              <a:t> — name, role, background, current situation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44144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E87A2C"/>
                </a:solidFill>
                <a:latin typeface="Calibri"/>
              </a:rPr>
              <a:t>●  </a:t>
            </a:r>
            <a:r>
              <a:rPr sz="1100" b="1">
                <a:solidFill>
                  <a:srgbClr val="FFFFFF"/>
                </a:solidFill>
                <a:latin typeface="Calibri"/>
              </a:rPr>
              <a:t>Work Style</a:t>
            </a:r>
            <a:r>
              <a:rPr sz="1100">
                <a:solidFill>
                  <a:srgbClr val="BBBBCC"/>
                </a:solidFill>
                <a:latin typeface="Calibri"/>
              </a:rPr>
              <a:t> — communication, tools, routines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16712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E87A2C"/>
                </a:solidFill>
                <a:latin typeface="Calibri"/>
              </a:rPr>
              <a:t>●  </a:t>
            </a:r>
            <a:r>
              <a:rPr sz="1100" b="1">
                <a:solidFill>
                  <a:srgbClr val="FFFFFF"/>
                </a:solidFill>
                <a:latin typeface="Calibri"/>
              </a:rPr>
              <a:t>Current Focus</a:t>
            </a:r>
            <a:r>
              <a:rPr sz="1100">
                <a:solidFill>
                  <a:srgbClr val="BBBBCC"/>
                </a:solidFill>
                <a:latin typeface="Calibri"/>
              </a:rPr>
              <a:t> — priorities, active projects, goals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44144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E87A2C"/>
                </a:solidFill>
                <a:latin typeface="Calibri"/>
              </a:rPr>
              <a:t>●  </a:t>
            </a:r>
            <a:r>
              <a:rPr sz="1100" b="1">
                <a:solidFill>
                  <a:srgbClr val="FFFFFF"/>
                </a:solidFill>
                <a:latin typeface="Calibri"/>
              </a:rPr>
              <a:t>How I Want AI To Help Me</a:t>
            </a:r>
            <a:r>
              <a:rPr sz="1100">
                <a:solidFill>
                  <a:srgbClr val="BBBBCC"/>
                </a:solidFill>
                <a:latin typeface="Calibri"/>
              </a:rPr>
              <a:t> — specific tasks and areas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997135" y="2459736"/>
            <a:ext cx="1463040" cy="237744"/>
          </a:xfrm>
          <a:prstGeom prst="roundRect">
            <a:avLst/>
          </a:prstGeom>
          <a:solidFill>
            <a:srgbClr val="1E1E32"/>
          </a:solidFill>
          <a:ln w="12700">
            <a:solidFill>
              <a:srgbClr val="E87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E87A2C"/>
                </a:solidFill>
                <a:latin typeface="Calibri"/>
              </a:rPr>
              <a:t>START HERE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916936"/>
            <a:ext cx="11094415" cy="1298448"/>
          </a:xfrm>
          <a:prstGeom prst="rect">
            <a:avLst/>
          </a:prstGeom>
          <a:solidFill>
            <a:srgbClr val="22223A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2916936"/>
            <a:ext cx="11094415" cy="45720"/>
          </a:xfrm>
          <a:prstGeom prst="rect">
            <a:avLst/>
          </a:prstGeom>
          <a:solidFill>
            <a:srgbClr val="2EC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31520" y="3099816"/>
            <a:ext cx="384048" cy="384048"/>
          </a:xfrm>
          <a:prstGeom prst="roundRect">
            <a:avLst/>
          </a:prstGeom>
          <a:solidFill>
            <a:srgbClr val="2A2A45"/>
          </a:solidFill>
          <a:ln w="12700">
            <a:solidFill>
              <a:srgbClr val="2ECC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2ECCB1"/>
                </a:solidFill>
                <a:latin typeface="Trebuchet MS"/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3026664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2ECCB1"/>
                </a:solidFill>
                <a:latin typeface="Trebuchet MS"/>
              </a:rPr>
              <a:t>Level 2 — Strategic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330098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BBBBCC"/>
                </a:solidFill>
                <a:latin typeface="Calibri"/>
              </a:rPr>
              <a:t>Let your agent make real business decisions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3575304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2ECCB1"/>
                </a:solidFill>
                <a:latin typeface="Calibri"/>
              </a:rPr>
              <a:t>●  </a:t>
            </a:r>
            <a:r>
              <a:rPr sz="1100">
                <a:solidFill>
                  <a:srgbClr val="BBBBCC"/>
                </a:solidFill>
                <a:latin typeface="Calibri"/>
              </a:rPr>
              <a:t>Mission, products, services, pricing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3849624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2ECCB1"/>
                </a:solidFill>
                <a:latin typeface="Calibri"/>
              </a:rPr>
              <a:t>●  </a:t>
            </a:r>
            <a:r>
              <a:rPr sz="1100">
                <a:solidFill>
                  <a:srgbClr val="BBBBCC"/>
                </a:solidFill>
                <a:latin typeface="Calibri"/>
              </a:rPr>
              <a:t>Target market and business model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575304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2ECCB1"/>
                </a:solidFill>
                <a:latin typeface="Calibri"/>
              </a:rPr>
              <a:t>●  </a:t>
            </a:r>
            <a:r>
              <a:rPr sz="1100">
                <a:solidFill>
                  <a:srgbClr val="BBBBCC"/>
                </a:solidFill>
                <a:latin typeface="Calibri"/>
              </a:rPr>
              <a:t>Team structure and key collaborations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849624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2ECCB1"/>
                </a:solidFill>
                <a:latin typeface="Calibri"/>
              </a:rPr>
              <a:t>●  </a:t>
            </a:r>
            <a:r>
              <a:rPr sz="1100">
                <a:solidFill>
                  <a:srgbClr val="BBBBCC"/>
                </a:solidFill>
                <a:latin typeface="Calibri"/>
              </a:rPr>
              <a:t>Communication tools and meeting cadence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997135" y="3867911"/>
            <a:ext cx="1463040" cy="237744"/>
          </a:xfrm>
          <a:prstGeom prst="roundRect">
            <a:avLst/>
          </a:prstGeom>
          <a:solidFill>
            <a:srgbClr val="1E1E32"/>
          </a:solidFill>
          <a:ln w="12700">
            <a:solidFill>
              <a:srgbClr val="2ECC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2ECCB1"/>
                </a:solidFill>
                <a:latin typeface="Calibri"/>
              </a:rPr>
              <a:t>ADD WHEN READY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325112"/>
            <a:ext cx="11094415" cy="1298448"/>
          </a:xfrm>
          <a:prstGeom prst="rect">
            <a:avLst/>
          </a:prstGeom>
          <a:solidFill>
            <a:srgbClr val="22223A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4325112"/>
            <a:ext cx="11094415" cy="45720"/>
          </a:xfrm>
          <a:prstGeom prst="rect">
            <a:avLst/>
          </a:prstGeom>
          <a:solidFill>
            <a:srgbClr val="9B6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31520" y="4507992"/>
            <a:ext cx="384048" cy="384048"/>
          </a:xfrm>
          <a:prstGeom prst="roundRect">
            <a:avLst/>
          </a:prstGeom>
          <a:solidFill>
            <a:srgbClr val="2A2A45"/>
          </a:solidFill>
          <a:ln w="12700">
            <a:solidFill>
              <a:srgbClr val="9B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9B6BD6"/>
                </a:solidFill>
                <a:latin typeface="Trebuchet MS"/>
              </a:rPr>
              <a:t>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80160" y="44348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9B6BD6"/>
                </a:solidFill>
                <a:latin typeface="Trebuchet MS"/>
              </a:rPr>
              <a:t>Level 3 — Enterprise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80160" y="47091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BBBBCC"/>
                </a:solidFill>
                <a:latin typeface="Calibri"/>
              </a:rPr>
              <a:t>Full operational playbook for autonomous execution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49834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9B6BD6"/>
                </a:solidFill>
                <a:latin typeface="Calibri"/>
              </a:rPr>
              <a:t>●  </a:t>
            </a:r>
            <a:r>
              <a:rPr sz="1100">
                <a:solidFill>
                  <a:srgbClr val="BBBBCC"/>
                </a:solidFill>
                <a:latin typeface="Calibri"/>
              </a:rPr>
              <a:t>SOPs and workflow documentation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80160" y="525780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9B6BD6"/>
                </a:solidFill>
                <a:latin typeface="Calibri"/>
              </a:rPr>
              <a:t>●  </a:t>
            </a:r>
            <a:r>
              <a:rPr sz="1100">
                <a:solidFill>
                  <a:srgbClr val="BBBBCC"/>
                </a:solidFill>
                <a:latin typeface="Calibri"/>
              </a:rPr>
              <a:t>Decision trees and escalation paths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49834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9B6BD6"/>
                </a:solidFill>
                <a:latin typeface="Calibri"/>
              </a:rPr>
              <a:t>●  </a:t>
            </a:r>
            <a:r>
              <a:rPr sz="1100">
                <a:solidFill>
                  <a:srgbClr val="BBBBCC"/>
                </a:solidFill>
                <a:latin typeface="Calibri"/>
              </a:rPr>
              <a:t>Competitive landscape and market data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525780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9B6BD6"/>
                </a:solidFill>
                <a:latin typeface="Calibri"/>
              </a:rPr>
              <a:t>●  </a:t>
            </a:r>
            <a:r>
              <a:rPr sz="1100">
                <a:solidFill>
                  <a:srgbClr val="BBBBCC"/>
                </a:solidFill>
                <a:latin typeface="Calibri"/>
              </a:rPr>
              <a:t>Historical meetings and client intelligence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585655" y="5276088"/>
            <a:ext cx="1874519" cy="237744"/>
          </a:xfrm>
          <a:prstGeom prst="roundRect">
            <a:avLst/>
          </a:prstGeom>
          <a:solidFill>
            <a:srgbClr val="1E1E32"/>
          </a:solidFill>
          <a:ln w="12700">
            <a:solidFill>
              <a:srgbClr val="9B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9B6BD6"/>
                </a:solidFill>
                <a:latin typeface="Calibri"/>
              </a:rPr>
              <a:t>ADVANCED · 10-15 HOURS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263640"/>
            <a:ext cx="12191695" cy="502920"/>
          </a:xfrm>
          <a:prstGeom prst="rect">
            <a:avLst/>
          </a:prstGeom>
          <a:solidFill>
            <a:srgbClr val="15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0" y="6263640"/>
            <a:ext cx="73152" cy="502920"/>
          </a:xfrm>
          <a:prstGeom prst="rect">
            <a:avLst/>
          </a:prstGeom>
          <a:solidFill>
            <a:srgbClr val="E8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62636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 b="1">
                <a:solidFill>
                  <a:srgbClr val="E87A2C"/>
                </a:solidFill>
                <a:latin typeface="Calibri"/>
              </a:rPr>
              <a:t>ALL LEVELS SAVE TO USER.MD   </a:t>
            </a:r>
            <a:r>
              <a:rPr sz="1300">
                <a:solidFill>
                  <a:srgbClr val="BBBBCC"/>
                </a:solidFill>
                <a:latin typeface="Calibri"/>
              </a:rPr>
              <a:t>Your agent loads this file into every conversation, cron job, and sub-agent task automatically.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